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80" r:id="rId3"/>
    <p:sldId id="261" r:id="rId4"/>
    <p:sldId id="281" r:id="rId5"/>
    <p:sldId id="263" r:id="rId6"/>
    <p:sldId id="265" r:id="rId7"/>
    <p:sldId id="264" r:id="rId8"/>
    <p:sldId id="266" r:id="rId9"/>
    <p:sldId id="299" r:id="rId10"/>
    <p:sldId id="282" r:id="rId11"/>
    <p:sldId id="283" r:id="rId12"/>
    <p:sldId id="285" r:id="rId13"/>
    <p:sldId id="286" r:id="rId14"/>
    <p:sldId id="287" r:id="rId15"/>
    <p:sldId id="288" r:id="rId16"/>
    <p:sldId id="289" r:id="rId17"/>
    <p:sldId id="290" r:id="rId18"/>
    <p:sldId id="291" r:id="rId19"/>
    <p:sldId id="293" r:id="rId20"/>
    <p:sldId id="295" r:id="rId21"/>
    <p:sldId id="276" r:id="rId22"/>
    <p:sldId id="297" r:id="rId23"/>
    <p:sldId id="298" r:id="rId24"/>
    <p:sldId id="259" r:id="rId25"/>
  </p:sldIdLst>
  <p:sldSz cx="12192000" cy="6858000"/>
  <p:notesSz cx="6858000" cy="9144000"/>
  <p:embeddedFontLst>
    <p:embeddedFont>
      <p:font typeface="Calibri" panose="020F0502020204030204" pitchFamily="34"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3" roundtripDataSignature="AMtx7mhnFQsu0qTBRZ+C47HNp0tuHCNk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13" autoAdjust="0"/>
    <p:restoredTop sz="95455" autoAdjust="0"/>
  </p:normalViewPr>
  <p:slideViewPr>
    <p:cSldViewPr snapToGrid="0">
      <p:cViewPr varScale="1">
        <p:scale>
          <a:sx n="87" d="100"/>
          <a:sy n="87" d="100"/>
        </p:scale>
        <p:origin x="552" y="8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pic>
        <p:nvPicPr>
          <p:cNvPr id="27" name="Google Shape;27;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pic>
        <p:nvPicPr>
          <p:cNvPr id="32" name="Google Shape;32;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pic>
        <p:nvPicPr>
          <p:cNvPr id="39" name="Google Shape;39;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mukeshsai-gunty-23b32328a/" TargetMode="External"/><Relationship Id="rId2" Type="http://schemas.openxmlformats.org/officeDocument/2006/relationships/hyperlink" Target="https://www.linkedin.com/in/chinta-bhargava-sai-4ba066228/" TargetMode="External"/><Relationship Id="rId1" Type="http://schemas.openxmlformats.org/officeDocument/2006/relationships/slideLayout" Target="../slideLayouts/slideLayout4.xml"/><Relationship Id="rId4" Type="http://schemas.openxmlformats.org/officeDocument/2006/relationships/hyperlink" Target="https://github.com/Bhargavasai2005/"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0" y="-684617"/>
            <a:ext cx="12192000" cy="6814484"/>
          </a:xfrm>
          <a:prstGeom prst="rect">
            <a:avLst/>
          </a:prstGeom>
          <a:noFill/>
          <a:ln>
            <a:noFill/>
          </a:ln>
        </p:spPr>
      </p:pic>
      <p:sp>
        <p:nvSpPr>
          <p:cNvPr id="4" name="TextBox 3">
            <a:extLst>
              <a:ext uri="{FF2B5EF4-FFF2-40B4-BE49-F238E27FC236}">
                <a16:creationId xmlns:a16="http://schemas.microsoft.com/office/drawing/2014/main" id="{EBCC5244-CD1C-B957-E40D-E5D18679EF2B}"/>
              </a:ext>
            </a:extLst>
          </p:cNvPr>
          <p:cNvSpPr txBox="1"/>
          <p:nvPr/>
        </p:nvSpPr>
        <p:spPr>
          <a:xfrm>
            <a:off x="1104644" y="4860435"/>
            <a:ext cx="9291286" cy="1200329"/>
          </a:xfrm>
          <a:prstGeom prst="rect">
            <a:avLst/>
          </a:prstGeom>
          <a:noFill/>
        </p:spPr>
        <p:txBody>
          <a:bodyPr wrap="square" rtlCol="0">
            <a:spAutoFit/>
          </a:bodyPr>
          <a:lstStyle/>
          <a:p>
            <a:endParaRPr lang="en-US" sz="2400" b="1" dirty="0">
              <a:latin typeface="Times New Roman" panose="02020603050405020304" pitchFamily="18" charset="0"/>
              <a:cs typeface="Times New Roman" panose="02020603050405020304" pitchFamily="18" charset="0"/>
            </a:endParaRPr>
          </a:p>
          <a:p>
            <a:endParaRPr lang="en-US" sz="2400" b="1" dirty="0">
              <a:latin typeface="Times New Roman" panose="02020603050405020304" pitchFamily="18" charset="0"/>
              <a:cs typeface="Times New Roman" panose="02020603050405020304" pitchFamily="18" charset="0"/>
            </a:endParaRPr>
          </a:p>
          <a:p>
            <a:r>
              <a:rPr lang="en-US" sz="2400" b="1" dirty="0" smtClean="0">
                <a:latin typeface="Times New Roman" panose="02020603050405020304" pitchFamily="18" charset="0"/>
                <a:cs typeface="Times New Roman" panose="02020603050405020304" pitchFamily="18" charset="0"/>
              </a:rPr>
              <a:t>              Title:</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Web Scraping and Exploratory Data Analysis of Chimneys  </a:t>
            </a:r>
          </a:p>
        </p:txBody>
      </p:sp>
      <p:pic>
        <p:nvPicPr>
          <p:cNvPr id="3" name="Picture 2"/>
          <p:cNvPicPr>
            <a:picLocks noChangeAspect="1"/>
          </p:cNvPicPr>
          <p:nvPr/>
        </p:nvPicPr>
        <p:blipFill>
          <a:blip r:embed="rId4"/>
          <a:stretch>
            <a:fillRect/>
          </a:stretch>
        </p:blipFill>
        <p:spPr>
          <a:xfrm>
            <a:off x="5361253" y="3278459"/>
            <a:ext cx="1469494" cy="158197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8"/>
                                        </p:tgtEl>
                                        <p:attrNameLst>
                                          <p:attrName>style.visibility</p:attrName>
                                        </p:attrNameLst>
                                      </p:cBhvr>
                                      <p:to>
                                        <p:strVal val="visible"/>
                                      </p:to>
                                    </p:set>
                                    <p:animEffect transition="in" filter="fade">
                                      <p:cBhvr>
                                        <p:cTn id="7" dur="500"/>
                                        <p:tgtEl>
                                          <p:spTgt spid="9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0BCD2-097C-AB08-F476-BFB1E155ADCF}"/>
              </a:ext>
            </a:extLst>
          </p:cNvPr>
          <p:cNvSpPr>
            <a:spLocks noGrp="1"/>
          </p:cNvSpPr>
          <p:nvPr>
            <p:ph type="title"/>
          </p:nvPr>
        </p:nvSpPr>
        <p:spPr>
          <a:xfrm>
            <a:off x="531434" y="241238"/>
            <a:ext cx="10515600" cy="991727"/>
          </a:xfrm>
        </p:spPr>
        <p:txBody>
          <a:bodyPr/>
          <a:lstStyle/>
          <a:p>
            <a:r>
              <a:rPr lang="en-US" b="1" dirty="0">
                <a:latin typeface="Times New Roman" panose="02020603050405020304" pitchFamily="18" charset="0"/>
                <a:cs typeface="Times New Roman" panose="02020603050405020304" pitchFamily="18" charset="0"/>
              </a:rPr>
              <a:t>About Us:</a:t>
            </a:r>
          </a:p>
        </p:txBody>
      </p:sp>
      <p:sp>
        <p:nvSpPr>
          <p:cNvPr id="3" name="Text Placeholder 2">
            <a:extLst>
              <a:ext uri="{FF2B5EF4-FFF2-40B4-BE49-F238E27FC236}">
                <a16:creationId xmlns:a16="http://schemas.microsoft.com/office/drawing/2014/main" id="{8732A749-6D4D-68BF-7D83-9A1E95CC8720}"/>
              </a:ext>
            </a:extLst>
          </p:cNvPr>
          <p:cNvSpPr>
            <a:spLocks noGrp="1"/>
          </p:cNvSpPr>
          <p:nvPr>
            <p:ph type="body" idx="1"/>
          </p:nvPr>
        </p:nvSpPr>
        <p:spPr>
          <a:xfrm>
            <a:off x="838200" y="1825625"/>
            <a:ext cx="10515600" cy="3330411"/>
          </a:xfrm>
        </p:spPr>
        <p:txBody>
          <a:bodyPr>
            <a:normAutofit lnSpcReduction="10000"/>
          </a:bodyPr>
          <a:lstStyle/>
          <a:p>
            <a:pPr marL="342900" eaLnBrk="0" fontAlgn="base" hangingPunct="0">
              <a:lnSpc>
                <a:spcPct val="150000"/>
              </a:lnSpc>
              <a:spcBef>
                <a:spcPct val="0"/>
              </a:spcBef>
              <a:spcAft>
                <a:spcPct val="0"/>
              </a:spcAft>
              <a:buClrTx/>
              <a:buSzTx/>
            </a:pPr>
            <a:r>
              <a:rPr lang="en-US" sz="2400" dirty="0">
                <a:latin typeface="Times New Roman" panose="02020603050405020304" pitchFamily="18" charset="0"/>
                <a:cs typeface="Times New Roman" panose="02020603050405020304" pitchFamily="18" charset="0"/>
              </a:rPr>
              <a:t>We are Bhargava Sai, Viswa, Sriram </a:t>
            </a:r>
            <a:r>
              <a:rPr lang="en-US" altLang="en-US" sz="2400" dirty="0" err="1">
                <a:solidFill>
                  <a:schemeClr val="tx1"/>
                </a:solidFill>
                <a:latin typeface="Times New Roman" panose="02020603050405020304" pitchFamily="18" charset="0"/>
                <a:cs typeface="Times New Roman" panose="02020603050405020304" pitchFamily="18" charset="0"/>
              </a:rPr>
              <a:t>B.Tech</a:t>
            </a:r>
            <a:r>
              <a:rPr lang="en-US" altLang="en-US" sz="2400" dirty="0">
                <a:solidFill>
                  <a:schemeClr val="tx1"/>
                </a:solidFill>
                <a:latin typeface="Times New Roman" panose="02020603050405020304" pitchFamily="18" charset="0"/>
                <a:cs typeface="Times New Roman" panose="02020603050405020304" pitchFamily="18" charset="0"/>
              </a:rPr>
              <a:t> graduate passionate about Data Analytics and Visualization.</a:t>
            </a:r>
          </a:p>
          <a:p>
            <a:pPr marL="342900" eaLnBrk="0" fontAlgn="base" hangingPunct="0">
              <a:lnSpc>
                <a:spcPct val="150000"/>
              </a:lnSpc>
              <a:spcBef>
                <a:spcPct val="0"/>
              </a:spcBef>
              <a:spcAft>
                <a:spcPct val="0"/>
              </a:spcAft>
              <a:buClrTx/>
              <a:buSzTx/>
            </a:pPr>
            <a:r>
              <a:rPr lang="en-US" altLang="en-US" sz="2400" dirty="0">
                <a:solidFill>
                  <a:schemeClr val="tx1"/>
                </a:solidFill>
                <a:latin typeface="Times New Roman" panose="02020603050405020304" pitchFamily="18" charset="0"/>
                <a:cs typeface="Times New Roman" panose="02020603050405020304" pitchFamily="18" charset="0"/>
              </a:rPr>
              <a:t>Exploring data-driven insights through real-world datasets.</a:t>
            </a:r>
          </a:p>
          <a:p>
            <a:pPr marL="342900" eaLnBrk="0" fontAlgn="base" hangingPunct="0">
              <a:lnSpc>
                <a:spcPct val="150000"/>
              </a:lnSpc>
              <a:spcBef>
                <a:spcPct val="0"/>
              </a:spcBef>
              <a:spcAft>
                <a:spcPct val="0"/>
              </a:spcAft>
              <a:buClrTx/>
              <a:buSzTx/>
            </a:pPr>
            <a:r>
              <a:rPr lang="en-US" altLang="en-US" sz="2400" dirty="0">
                <a:solidFill>
                  <a:schemeClr val="tx1"/>
                </a:solidFill>
                <a:latin typeface="Times New Roman" panose="02020603050405020304" pitchFamily="18" charset="0"/>
                <a:cs typeface="Times New Roman" panose="02020603050405020304" pitchFamily="18" charset="0"/>
              </a:rPr>
              <a:t>Interested in web data extraction and business trend analysis.</a:t>
            </a:r>
          </a:p>
          <a:p>
            <a:pPr marL="342900" eaLnBrk="0" fontAlgn="base" hangingPunct="0">
              <a:lnSpc>
                <a:spcPct val="150000"/>
              </a:lnSpc>
              <a:spcBef>
                <a:spcPct val="0"/>
              </a:spcBef>
              <a:spcAft>
                <a:spcPct val="0"/>
              </a:spcAft>
              <a:buClrTx/>
              <a:buSzTx/>
            </a:pPr>
            <a:r>
              <a:rPr lang="en-US" altLang="en-US" sz="2400" b="1" dirty="0">
                <a:solidFill>
                  <a:schemeClr val="tx1"/>
                </a:solidFill>
                <a:latin typeface="Times New Roman" panose="02020603050405020304" pitchFamily="18" charset="0"/>
                <a:cs typeface="Times New Roman" panose="02020603050405020304" pitchFamily="18" charset="0"/>
              </a:rPr>
              <a:t>LINKEDIN</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a:solidFill>
                  <a:schemeClr val="tx1"/>
                </a:solidFill>
                <a:latin typeface="Times New Roman" panose="02020603050405020304" pitchFamily="18" charset="0"/>
                <a:cs typeface="Times New Roman" panose="02020603050405020304" pitchFamily="18" charset="0"/>
                <a:hlinkClick r:id="rId2"/>
              </a:rPr>
              <a:t>https://www.linkedin.com/in/chinta-bhargava-sai-4ba066228/</a:t>
            </a:r>
            <a:r>
              <a:rPr lang="en-US" altLang="en-US" sz="2400" dirty="0">
                <a:solidFill>
                  <a:schemeClr val="tx1"/>
                </a:solidFill>
                <a:latin typeface="Times New Roman" panose="02020603050405020304" pitchFamily="18" charset="0"/>
                <a:cs typeface="Times New Roman" panose="02020603050405020304" pitchFamily="18" charset="0"/>
                <a:hlinkClick r:id="rId3"/>
              </a:rPr>
              <a:t>/</a:t>
            </a:r>
            <a:endParaRPr lang="en-US" altLang="en-US" sz="2400" dirty="0">
              <a:solidFill>
                <a:schemeClr val="tx1"/>
              </a:solidFill>
              <a:latin typeface="Times New Roman" panose="02020603050405020304" pitchFamily="18" charset="0"/>
              <a:cs typeface="Times New Roman" panose="02020603050405020304" pitchFamily="18" charset="0"/>
            </a:endParaRPr>
          </a:p>
          <a:p>
            <a:pPr marL="342900" eaLnBrk="0" fontAlgn="base" hangingPunct="0">
              <a:lnSpc>
                <a:spcPct val="150000"/>
              </a:lnSpc>
              <a:spcBef>
                <a:spcPct val="0"/>
              </a:spcBef>
              <a:spcAft>
                <a:spcPct val="0"/>
              </a:spcAft>
              <a:buClrTx/>
              <a:buSzTx/>
            </a:pPr>
            <a:r>
              <a:rPr lang="en-US" altLang="en-US" sz="2400" b="1" dirty="0">
                <a:solidFill>
                  <a:schemeClr val="tx1"/>
                </a:solidFill>
                <a:latin typeface="Times New Roman" panose="02020603050405020304" pitchFamily="18" charset="0"/>
                <a:cs typeface="Times New Roman" panose="02020603050405020304" pitchFamily="18" charset="0"/>
              </a:rPr>
              <a:t>GITHUB</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a:solidFill>
                  <a:schemeClr val="tx1"/>
                </a:solidFill>
                <a:latin typeface="Times New Roman" panose="02020603050405020304" pitchFamily="18" charset="0"/>
                <a:cs typeface="Times New Roman" panose="02020603050405020304" pitchFamily="18" charset="0"/>
                <a:hlinkClick r:id="rId4"/>
              </a:rPr>
              <a:t>https://github.com/Bhargavasai2005/</a:t>
            </a:r>
            <a:endParaRPr lang="en-US" altLang="en-US" sz="2400" dirty="0">
              <a:solidFill>
                <a:schemeClr val="tx1"/>
              </a:solidFill>
              <a:latin typeface="Times New Roman" panose="02020603050405020304" pitchFamily="18" charset="0"/>
              <a:cs typeface="Times New Roman" panose="02020603050405020304" pitchFamily="18" charset="0"/>
            </a:endParaRPr>
          </a:p>
          <a:p>
            <a:pPr>
              <a:lnSpc>
                <a:spcPct val="150000"/>
              </a:lnSpc>
            </a:pPr>
            <a:endParaRPr lang="en-US" sz="2400" dirty="0"/>
          </a:p>
        </p:txBody>
      </p:sp>
    </p:spTree>
    <p:extLst>
      <p:ext uri="{BB962C8B-B14F-4D97-AF65-F5344CB8AC3E}">
        <p14:creationId xmlns:p14="http://schemas.microsoft.com/office/powerpoint/2010/main" val="19265312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5C60B-D09B-73C1-83C7-5B8D1B695E16}"/>
              </a:ext>
            </a:extLst>
          </p:cNvPr>
          <p:cNvSpPr>
            <a:spLocks noGrp="1"/>
          </p:cNvSpPr>
          <p:nvPr>
            <p:ph type="title"/>
          </p:nvPr>
        </p:nvSpPr>
        <p:spPr>
          <a:xfrm>
            <a:off x="495545" y="289068"/>
            <a:ext cx="10498393" cy="989759"/>
          </a:xfrm>
        </p:spPr>
        <p:txBody>
          <a:bodyPr>
            <a:normAutofit/>
          </a:bodyPr>
          <a:lstStyle/>
          <a:p>
            <a:r>
              <a:rPr lang="en-IN" sz="4000" b="1" dirty="0">
                <a:solidFill>
                  <a:schemeClr val="tx1"/>
                </a:solidFill>
                <a:latin typeface="Times New Roman" panose="02020603050405020304" pitchFamily="18" charset="0"/>
                <a:cs typeface="Times New Roman" panose="02020603050405020304" pitchFamily="18" charset="0"/>
              </a:rPr>
              <a:t>Introduction:</a:t>
            </a:r>
          </a:p>
        </p:txBody>
      </p:sp>
      <p:sp>
        <p:nvSpPr>
          <p:cNvPr id="3" name="Text Placeholder 2">
            <a:extLst>
              <a:ext uri="{FF2B5EF4-FFF2-40B4-BE49-F238E27FC236}">
                <a16:creationId xmlns:a16="http://schemas.microsoft.com/office/drawing/2014/main" id="{D0E2DCD9-A327-3BE0-5E99-2B80AB2BF98B}"/>
              </a:ext>
            </a:extLst>
          </p:cNvPr>
          <p:cNvSpPr>
            <a:spLocks noGrp="1"/>
          </p:cNvSpPr>
          <p:nvPr>
            <p:ph type="body" idx="1"/>
          </p:nvPr>
        </p:nvSpPr>
        <p:spPr>
          <a:xfrm>
            <a:off x="837707" y="1380941"/>
            <a:ext cx="10778560" cy="4748926"/>
          </a:xfrm>
        </p:spPr>
        <p:txBody>
          <a:bodyPr>
            <a:noAutofit/>
          </a:bodyPr>
          <a:lstStyle/>
          <a:p>
            <a:pPr>
              <a:lnSpc>
                <a:spcPct val="120000"/>
              </a:lnSpc>
            </a:pPr>
            <a:r>
              <a:rPr lang="en-GB" sz="2000" dirty="0">
                <a:latin typeface="Times New Roman" panose="02020603050405020304" pitchFamily="18" charset="0"/>
                <a:cs typeface="Times New Roman" panose="02020603050405020304" pitchFamily="18" charset="0"/>
              </a:rPr>
              <a:t>The project aims to </a:t>
            </a:r>
            <a:r>
              <a:rPr lang="en-GB" sz="2000" dirty="0" err="1">
                <a:latin typeface="Times New Roman" panose="02020603050405020304" pitchFamily="18" charset="0"/>
                <a:cs typeface="Times New Roman" panose="02020603050405020304" pitchFamily="18" charset="0"/>
              </a:rPr>
              <a:t>analyze</a:t>
            </a:r>
            <a:r>
              <a:rPr lang="en-GB" sz="2000" dirty="0">
                <a:latin typeface="Times New Roman" panose="02020603050405020304" pitchFamily="18" charset="0"/>
                <a:cs typeface="Times New Roman" panose="02020603050405020304" pitchFamily="18" charset="0"/>
              </a:rPr>
              <a:t> chimney products available on Flipkart using data obtained through web scraping, to understand customer preferences, pricing trends, and brand performance.</a:t>
            </a:r>
          </a:p>
          <a:p>
            <a:pPr>
              <a:lnSpc>
                <a:spcPct val="120000"/>
              </a:lnSpc>
            </a:pPr>
            <a:r>
              <a:rPr lang="en-GB" sz="2000" dirty="0">
                <a:latin typeface="Times New Roman" panose="02020603050405020304" pitchFamily="18" charset="0"/>
                <a:cs typeface="Times New Roman" panose="02020603050405020304" pitchFamily="18" charset="0"/>
              </a:rPr>
              <a:t>The main objective of this study is to perform Exploratory Data Analysis (EDA) on the collected data to identify trends, customer preferences, and pricing patterns within the online chimney market.</a:t>
            </a:r>
          </a:p>
          <a:p>
            <a:pPr>
              <a:lnSpc>
                <a:spcPct val="120000"/>
              </a:lnSpc>
            </a:pPr>
            <a:r>
              <a:rPr lang="en-GB" sz="2000" dirty="0">
                <a:latin typeface="Times New Roman" panose="02020603050405020304" pitchFamily="18" charset="0"/>
                <a:cs typeface="Times New Roman" panose="02020603050405020304" pitchFamily="18" charset="0"/>
              </a:rPr>
              <a:t>The dataset was cleaned and processed to remove irrelevant or duplicate information, making it suitable for analysis. This ensures that the results and insights derived from the data are accurate and meaningful.</a:t>
            </a:r>
          </a:p>
          <a:p>
            <a:pPr>
              <a:lnSpc>
                <a:spcPct val="120000"/>
              </a:lnSpc>
            </a:pPr>
            <a:r>
              <a:rPr lang="en-GB" sz="2000" dirty="0">
                <a:latin typeface="Times New Roman" panose="02020603050405020304" pitchFamily="18" charset="0"/>
                <a:cs typeface="Times New Roman" panose="02020603050405020304" pitchFamily="18" charset="0"/>
              </a:rPr>
              <a:t>Through this project, insights were drawn regarding the most popular brands, most common suction capacities, frequently preferred sizes, and how price and ratings influence customer buying </a:t>
            </a:r>
            <a:r>
              <a:rPr lang="en-GB" sz="2000" dirty="0" err="1">
                <a:latin typeface="Times New Roman" panose="02020603050405020304" pitchFamily="18" charset="0"/>
                <a:cs typeface="Times New Roman" panose="02020603050405020304" pitchFamily="18" charset="0"/>
              </a:rPr>
              <a:t>behavior</a:t>
            </a:r>
            <a:r>
              <a:rPr lang="en-GB" sz="2000" dirty="0">
                <a:latin typeface="Times New Roman" panose="02020603050405020304" pitchFamily="18" charset="0"/>
                <a:cs typeface="Times New Roman" panose="02020603050405020304" pitchFamily="18" charset="0"/>
              </a:rPr>
              <a:t> on Flipkart.</a:t>
            </a:r>
            <a:endParaRPr lang="en-US"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p:txBody>
      </p:sp>
      <p:sp>
        <p:nvSpPr>
          <p:cNvPr id="5" name="AutoShape 4" descr="IMDb Yellow Logo on Transparent Background">
            <a:extLst>
              <a:ext uri="{FF2B5EF4-FFF2-40B4-BE49-F238E27FC236}">
                <a16:creationId xmlns:a16="http://schemas.microsoft.com/office/drawing/2014/main" id="{B22221D8-FFB4-69A5-0E6B-CFA11E559A8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2" descr="AmbitionBox - Salary &amp; Reviews – Apps on Google Play">
            <a:extLst>
              <a:ext uri="{FF2B5EF4-FFF2-40B4-BE49-F238E27FC236}">
                <a16:creationId xmlns:a16="http://schemas.microsoft.com/office/drawing/2014/main" id="{9F4D67FC-92D3-6EE8-165B-2A06CBBE8CA9}"/>
              </a:ext>
            </a:extLst>
          </p:cNvPr>
          <p:cNvSpPr>
            <a:spLocks noChangeAspect="1" noChangeArrowheads="1"/>
          </p:cNvSpPr>
          <p:nvPr/>
        </p:nvSpPr>
        <p:spPr bwMode="auto">
          <a:xfrm>
            <a:off x="6096000" y="1798608"/>
            <a:ext cx="1935192" cy="193519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8598941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a:extLst>
            <a:ext uri="{FF2B5EF4-FFF2-40B4-BE49-F238E27FC236}">
              <a16:creationId xmlns:a16="http://schemas.microsoft.com/office/drawing/2014/main" id="{0258D8E4-E110-A56B-CF40-8DF4088243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C757C9-6048-86FD-D462-6C4061560167}"/>
              </a:ext>
            </a:extLst>
          </p:cNvPr>
          <p:cNvSpPr>
            <a:spLocks noGrp="1"/>
          </p:cNvSpPr>
          <p:nvPr>
            <p:ph type="title"/>
          </p:nvPr>
        </p:nvSpPr>
        <p:spPr/>
        <p:txBody>
          <a:bodyPr>
            <a:normAutofit/>
          </a:bodyPr>
          <a:lstStyle/>
          <a:p>
            <a:r>
              <a:rPr lang="en-IN" sz="4000" b="1" dirty="0">
                <a:solidFill>
                  <a:schemeClr val="tx1"/>
                </a:solidFill>
                <a:latin typeface="Times New Roman" panose="02020603050405020304" pitchFamily="18" charset="0"/>
                <a:cs typeface="Times New Roman" panose="02020603050405020304" pitchFamily="18" charset="0"/>
              </a:rPr>
              <a:t>Business Problem:</a:t>
            </a:r>
          </a:p>
        </p:txBody>
      </p:sp>
      <p:sp>
        <p:nvSpPr>
          <p:cNvPr id="3" name="Text Placeholder 2"/>
          <p:cNvSpPr>
            <a:spLocks noGrp="1"/>
          </p:cNvSpPr>
          <p:nvPr>
            <p:ph type="body" idx="1"/>
          </p:nvPr>
        </p:nvSpPr>
        <p:spPr>
          <a:xfrm>
            <a:off x="838200" y="1512711"/>
            <a:ext cx="10515600" cy="4664252"/>
          </a:xfrm>
        </p:spPr>
        <p:txBody>
          <a:bodyPr>
            <a:normAutofit/>
          </a:bodyPr>
          <a:lstStyle/>
          <a:p>
            <a:r>
              <a:rPr lang="en-GB" sz="2000" dirty="0">
                <a:latin typeface="Times New Roman" panose="02020603050405020304" pitchFamily="18" charset="0"/>
                <a:cs typeface="Times New Roman" panose="02020603050405020304" pitchFamily="18" charset="0"/>
              </a:rPr>
              <a:t>The online home appliance market is highly competitive, and brands struggle to understand which factors — such as price, ratings, or suction capacity — most influence customer purchase decisions for chimneys.</a:t>
            </a:r>
          </a:p>
          <a:p>
            <a:endParaRPr lang="en-GB" sz="2000" dirty="0">
              <a:latin typeface="Times New Roman" panose="02020603050405020304" pitchFamily="18" charset="0"/>
              <a:cs typeface="Times New Roman" panose="02020603050405020304" pitchFamily="18" charset="0"/>
            </a:endParaRPr>
          </a:p>
          <a:p>
            <a:r>
              <a:rPr lang="en-GB" sz="2000" dirty="0">
                <a:latin typeface="Times New Roman" panose="02020603050405020304" pitchFamily="18" charset="0"/>
                <a:cs typeface="Times New Roman" panose="02020603050405020304" pitchFamily="18" charset="0"/>
              </a:rPr>
              <a:t>Companies lack data-driven insights on how pricing, ratings, and customer reviews affect product popularity and brand performance on e-commerce platforms like Flipkart.</a:t>
            </a:r>
          </a:p>
          <a:p>
            <a:endParaRPr lang="en-GB" sz="2000" dirty="0">
              <a:latin typeface="Times New Roman" panose="02020603050405020304" pitchFamily="18" charset="0"/>
              <a:cs typeface="Times New Roman" panose="02020603050405020304" pitchFamily="18" charset="0"/>
            </a:endParaRPr>
          </a:p>
          <a:p>
            <a:r>
              <a:rPr lang="en-GB" sz="2000" dirty="0">
                <a:latin typeface="Times New Roman" panose="02020603050405020304" pitchFamily="18" charset="0"/>
                <a:cs typeface="Times New Roman" panose="02020603050405020304" pitchFamily="18" charset="0"/>
              </a:rPr>
              <a:t>There is a need to </a:t>
            </a:r>
            <a:r>
              <a:rPr lang="en-GB" sz="2000" dirty="0" err="1">
                <a:latin typeface="Times New Roman" panose="02020603050405020304" pitchFamily="18" charset="0"/>
                <a:cs typeface="Times New Roman" panose="02020603050405020304" pitchFamily="18" charset="0"/>
              </a:rPr>
              <a:t>analyze</a:t>
            </a:r>
            <a:r>
              <a:rPr lang="en-GB" sz="2000" dirty="0">
                <a:latin typeface="Times New Roman" panose="02020603050405020304" pitchFamily="18" charset="0"/>
                <a:cs typeface="Times New Roman" panose="02020603050405020304" pitchFamily="18" charset="0"/>
              </a:rPr>
              <a:t> Flipkart product data to uncover patterns in customer preferences, pricing trends, and ratings to help brands improve marketing and pricing strategies effectively.</a:t>
            </a:r>
            <a:endParaRPr lang="en-IN" sz="2000" dirty="0">
              <a:latin typeface="Times New Roman" panose="02020603050405020304" pitchFamily="18" charset="0"/>
              <a:cs typeface="Times New Roman" panose="02020603050405020304" pitchFamily="18" charset="0"/>
            </a:endParaRPr>
          </a:p>
        </p:txBody>
      </p:sp>
      <p:sp>
        <p:nvSpPr>
          <p:cNvPr id="5" name="AutoShape 4" descr="IMDb Yellow Logo on Transparent Background">
            <a:extLst>
              <a:ext uri="{FF2B5EF4-FFF2-40B4-BE49-F238E27FC236}">
                <a16:creationId xmlns:a16="http://schemas.microsoft.com/office/drawing/2014/main" id="{53F8E77D-A54D-37AC-0CFB-13F9D3FF7B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2" descr="AmbitionBox - Salary &amp; Reviews – Apps on Google Play">
            <a:extLst>
              <a:ext uri="{FF2B5EF4-FFF2-40B4-BE49-F238E27FC236}">
                <a16:creationId xmlns:a16="http://schemas.microsoft.com/office/drawing/2014/main" id="{B546583E-4336-B42B-A208-E8DBEF2661E8}"/>
              </a:ext>
            </a:extLst>
          </p:cNvPr>
          <p:cNvSpPr>
            <a:spLocks noChangeAspect="1" noChangeArrowheads="1"/>
          </p:cNvSpPr>
          <p:nvPr/>
        </p:nvSpPr>
        <p:spPr bwMode="auto">
          <a:xfrm>
            <a:off x="6096000" y="1798608"/>
            <a:ext cx="1935192" cy="193519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9677361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AFAD8-355A-6C86-DAAE-3E3F9DC686CB}"/>
              </a:ext>
            </a:extLst>
          </p:cNvPr>
          <p:cNvSpPr>
            <a:spLocks noGrp="1"/>
          </p:cNvSpPr>
          <p:nvPr>
            <p:ph type="title"/>
          </p:nvPr>
        </p:nvSpPr>
        <p:spPr>
          <a:xfrm>
            <a:off x="100781" y="430018"/>
            <a:ext cx="2907890" cy="909136"/>
          </a:xfrm>
        </p:spPr>
        <p:txBody>
          <a:bodyPr>
            <a:norm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Objectives:</a:t>
            </a:r>
          </a:p>
        </p:txBody>
      </p:sp>
      <p:sp>
        <p:nvSpPr>
          <p:cNvPr id="3" name="Text Placeholder 2">
            <a:extLst>
              <a:ext uri="{FF2B5EF4-FFF2-40B4-BE49-F238E27FC236}">
                <a16:creationId xmlns:a16="http://schemas.microsoft.com/office/drawing/2014/main" id="{552E286A-B439-A981-0498-5FBB8AF70FC4}"/>
              </a:ext>
            </a:extLst>
          </p:cNvPr>
          <p:cNvSpPr>
            <a:spLocks noGrp="1"/>
          </p:cNvSpPr>
          <p:nvPr>
            <p:ph type="body" idx="1"/>
          </p:nvPr>
        </p:nvSpPr>
        <p:spPr>
          <a:xfrm>
            <a:off x="1015181" y="1507059"/>
            <a:ext cx="10183397" cy="3979341"/>
          </a:xfrm>
        </p:spPr>
        <p:txBody>
          <a:bodyPr>
            <a:noAutofit/>
          </a:bodyPr>
          <a:lstStyle/>
          <a:p>
            <a:pPr algn="just">
              <a:lnSpc>
                <a:spcPct val="150000"/>
              </a:lnSpc>
            </a:pPr>
            <a:r>
              <a:rPr lang="en-GB" sz="2000" dirty="0">
                <a:latin typeface="Times New Roman" panose="02020603050405020304" pitchFamily="18" charset="0"/>
                <a:cs typeface="Times New Roman" panose="02020603050405020304" pitchFamily="18" charset="0"/>
              </a:rPr>
              <a:t>To collect and organize chimney product data from Flipkart through web scraping, including attributes such as brand, price, rating, reviews, suction capacity, and size.</a:t>
            </a:r>
          </a:p>
          <a:p>
            <a:pPr algn="just">
              <a:lnSpc>
                <a:spcPct val="150000"/>
              </a:lnSpc>
            </a:pPr>
            <a:r>
              <a:rPr lang="en-GB" sz="2000" dirty="0">
                <a:latin typeface="Times New Roman" panose="02020603050405020304" pitchFamily="18" charset="0"/>
                <a:cs typeface="Times New Roman" panose="02020603050405020304" pitchFamily="18" charset="0"/>
              </a:rPr>
              <a:t>To perform Exploratory Data Analysis (EDA) to identify patterns, trends, and relationships between different product features like price, rating, and brand performance.</a:t>
            </a:r>
          </a:p>
          <a:p>
            <a:pPr algn="just">
              <a:lnSpc>
                <a:spcPct val="150000"/>
              </a:lnSpc>
            </a:pPr>
            <a:r>
              <a:rPr lang="en-GB" sz="2000" dirty="0">
                <a:latin typeface="Times New Roman" panose="02020603050405020304" pitchFamily="18" charset="0"/>
                <a:cs typeface="Times New Roman" panose="02020603050405020304" pitchFamily="18" charset="0"/>
              </a:rPr>
              <a:t>To visualize the data using charts and plots for better understanding of customer preferences and market distribution.</a:t>
            </a:r>
          </a:p>
          <a:p>
            <a:pPr algn="just">
              <a:lnSpc>
                <a:spcPct val="150000"/>
              </a:lnSpc>
            </a:pPr>
            <a:r>
              <a:rPr lang="en-GB" sz="2000" dirty="0">
                <a:latin typeface="Times New Roman" panose="02020603050405020304" pitchFamily="18" charset="0"/>
                <a:cs typeface="Times New Roman" panose="02020603050405020304" pitchFamily="18" charset="0"/>
              </a:rPr>
              <a:t>To derive meaningful business insights that can help brands optimize pricing, improve customer satisfaction, and enhance product visibility in the online market.</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1027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F9875-408F-AAEB-E616-9F7F913C414D}"/>
              </a:ext>
            </a:extLst>
          </p:cNvPr>
          <p:cNvSpPr>
            <a:spLocks noGrp="1"/>
          </p:cNvSpPr>
          <p:nvPr>
            <p:ph type="title"/>
          </p:nvPr>
        </p:nvSpPr>
        <p:spPr>
          <a:xfrm>
            <a:off x="318541" y="425011"/>
            <a:ext cx="3657623" cy="684068"/>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Web Scraping:</a:t>
            </a:r>
          </a:p>
        </p:txBody>
      </p:sp>
      <p:sp>
        <p:nvSpPr>
          <p:cNvPr id="5" name="TextBox 4">
            <a:extLst>
              <a:ext uri="{FF2B5EF4-FFF2-40B4-BE49-F238E27FC236}">
                <a16:creationId xmlns:a16="http://schemas.microsoft.com/office/drawing/2014/main" id="{8CBABC51-E6DE-FD43-74F8-6AC7547F18CD}"/>
              </a:ext>
            </a:extLst>
          </p:cNvPr>
          <p:cNvSpPr txBox="1"/>
          <p:nvPr/>
        </p:nvSpPr>
        <p:spPr>
          <a:xfrm>
            <a:off x="406400" y="1294960"/>
            <a:ext cx="7461956" cy="434587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Flipkart’s official website was selected as the primary data source for extracting chimney-related product information.</a:t>
            </a:r>
          </a:p>
          <a:p>
            <a:pPr marL="342900" indent="-342900">
              <a:lnSpc>
                <a:spcPct val="150000"/>
              </a:lnSpc>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The data was scraped using Python libraries — </a:t>
            </a:r>
            <a:r>
              <a:rPr lang="en-GB" sz="2000" dirty="0" err="1">
                <a:latin typeface="Times New Roman" panose="02020603050405020304" pitchFamily="18" charset="0"/>
                <a:cs typeface="Times New Roman" panose="02020603050405020304" pitchFamily="18" charset="0"/>
              </a:rPr>
              <a:t>BeautifulSoup</a:t>
            </a:r>
            <a:r>
              <a:rPr lang="en-GB" sz="2000" dirty="0">
                <a:latin typeface="Times New Roman" panose="02020603050405020304" pitchFamily="18" charset="0"/>
                <a:cs typeface="Times New Roman" panose="02020603050405020304" pitchFamily="18" charset="0"/>
              </a:rPr>
              <a:t> and Requests to collect structured details of various chimney products.</a:t>
            </a:r>
          </a:p>
          <a:p>
            <a:pPr marL="342900" indent="-342900">
              <a:buFont typeface="Arial" panose="020B0604020202020204" pitchFamily="34" charset="0"/>
              <a:buChar char="•"/>
            </a:pPr>
            <a:endParaRPr lang="en-GB"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The extracted attributes included: </a:t>
            </a:r>
            <a:r>
              <a:rPr lang="en-GB" sz="2000" b="1" dirty="0">
                <a:latin typeface="Times New Roman" panose="02020603050405020304" pitchFamily="18" charset="0"/>
                <a:cs typeface="Times New Roman" panose="02020603050405020304" pitchFamily="18" charset="0"/>
              </a:rPr>
              <a:t>Product Name, Brand, Price, Rating, Offer, Review Count, Suction </a:t>
            </a:r>
            <a:r>
              <a:rPr lang="en-GB" sz="2000" b="1" dirty="0" err="1">
                <a:latin typeface="Times New Roman" panose="02020603050405020304" pitchFamily="18" charset="0"/>
                <a:cs typeface="Times New Roman" panose="02020603050405020304" pitchFamily="18" charset="0"/>
              </a:rPr>
              <a:t>Capacity,Size</a:t>
            </a:r>
            <a:r>
              <a:rPr lang="en-GB" sz="2000" b="1" dirty="0">
                <a:latin typeface="Times New Roman" panose="02020603050405020304" pitchFamily="18" charset="0"/>
                <a:cs typeface="Times New Roman" panose="02020603050405020304" pitchFamily="18" charset="0"/>
              </a:rPr>
              <a:t>, </a:t>
            </a:r>
            <a:r>
              <a:rPr lang="en-GB" sz="2000" b="1" dirty="0" err="1">
                <a:latin typeface="Times New Roman" panose="02020603050405020304" pitchFamily="18" charset="0"/>
                <a:cs typeface="Times New Roman" panose="02020603050405020304" pitchFamily="18" charset="0"/>
              </a:rPr>
              <a:t>Offer_clean</a:t>
            </a:r>
            <a:r>
              <a:rPr lang="en-GB" sz="2000" b="1" dirty="0">
                <a:latin typeface="Times New Roman" panose="02020603050405020304" pitchFamily="18" charset="0"/>
                <a:cs typeface="Times New Roman" panose="02020603050405020304" pitchFamily="18" charset="0"/>
              </a:rPr>
              <a:t>, </a:t>
            </a:r>
            <a:r>
              <a:rPr lang="en-GB" sz="2000" b="1" dirty="0" err="1">
                <a:latin typeface="Times New Roman" panose="02020603050405020304" pitchFamily="18" charset="0"/>
                <a:cs typeface="Times New Roman" panose="02020603050405020304" pitchFamily="18" charset="0"/>
              </a:rPr>
              <a:t>Suction_clean</a:t>
            </a:r>
            <a:r>
              <a:rPr lang="en-GB" sz="2000" b="1" dirty="0">
                <a:latin typeface="Times New Roman" panose="02020603050405020304" pitchFamily="18" charset="0"/>
                <a:cs typeface="Times New Roman" panose="02020603050405020304" pitchFamily="18" charset="0"/>
              </a:rPr>
              <a:t>, </a:t>
            </a:r>
            <a:r>
              <a:rPr lang="en-GB" sz="2000" b="1" dirty="0" err="1">
                <a:latin typeface="Times New Roman" panose="02020603050405020304" pitchFamily="18" charset="0"/>
                <a:cs typeface="Times New Roman" panose="02020603050405020304" pitchFamily="18" charset="0"/>
              </a:rPr>
              <a:t>Rating_Performance</a:t>
            </a:r>
            <a:r>
              <a:rPr lang="en-GB" sz="2000" b="1" dirty="0">
                <a:latin typeface="Times New Roman" panose="02020603050405020304" pitchFamily="18" charset="0"/>
                <a:cs typeface="Times New Roman" panose="02020603050405020304" pitchFamily="18" charset="0"/>
              </a:rPr>
              <a:t>, </a:t>
            </a:r>
            <a:r>
              <a:rPr lang="en-GB" sz="2000" b="1" dirty="0" err="1">
                <a:latin typeface="Times New Roman" panose="02020603050405020304" pitchFamily="18" charset="0"/>
                <a:cs typeface="Times New Roman" panose="02020603050405020304" pitchFamily="18" charset="0"/>
              </a:rPr>
              <a:t>suction_bins</a:t>
            </a:r>
            <a:r>
              <a:rPr lang="en-GB" sz="2000" b="1" dirty="0">
                <a:latin typeface="Times New Roman" panose="02020603050405020304" pitchFamily="18" charset="0"/>
                <a:cs typeface="Times New Roman" panose="02020603050405020304" pitchFamily="18" charset="0"/>
              </a:rPr>
              <a:t>.</a:t>
            </a:r>
            <a:endParaRPr lang="en-US"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000" b="1" dirty="0">
              <a:latin typeface="Times New Roman" panose="02020603050405020304" pitchFamily="18" charset="0"/>
              <a:cs typeface="Times New Roman" panose="02020603050405020304" pitchFamily="18" charset="0"/>
            </a:endParaRPr>
          </a:p>
          <a:p>
            <a:pPr marL="342900" lvl="8"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a:t>
            </a:r>
            <a:r>
              <a:rPr lang="en-GB" sz="2000" dirty="0">
                <a:latin typeface="Times New Roman" panose="02020603050405020304" pitchFamily="18" charset="0"/>
                <a:cs typeface="Times New Roman" panose="02020603050405020304" pitchFamily="18" charset="0"/>
              </a:rPr>
              <a:t>The scraped data was cleaned and saved in a </a:t>
            </a:r>
            <a:r>
              <a:rPr lang="en-GB" sz="2000" b="1" dirty="0">
                <a:latin typeface="Times New Roman" panose="02020603050405020304" pitchFamily="18" charset="0"/>
                <a:cs typeface="Times New Roman" panose="02020603050405020304" pitchFamily="18" charset="0"/>
              </a:rPr>
              <a:t>CSV file</a:t>
            </a:r>
            <a:r>
              <a:rPr lang="en-GB" sz="2000" dirty="0">
                <a:latin typeface="Times New Roman" panose="02020603050405020304" pitchFamily="18" charset="0"/>
                <a:cs typeface="Times New Roman" panose="02020603050405020304" pitchFamily="18" charset="0"/>
              </a:rPr>
              <a:t> format for further data analysis and visualization.</a:t>
            </a:r>
            <a:r>
              <a:rPr lang="en-US" sz="2000" dirty="0">
                <a:latin typeface="Times New Roman" panose="02020603050405020304" pitchFamily="18" charset="0"/>
                <a:cs typeface="Times New Roman" panose="02020603050405020304" pitchFamily="18" charset="0"/>
              </a:rPr>
              <a:t>                                                                                                                           </a:t>
            </a:r>
          </a:p>
        </p:txBody>
      </p:sp>
      <p:pic>
        <p:nvPicPr>
          <p:cNvPr id="3" name="Picture 2"/>
          <p:cNvPicPr>
            <a:picLocks noChangeAspect="1"/>
          </p:cNvPicPr>
          <p:nvPr/>
        </p:nvPicPr>
        <p:blipFill>
          <a:blip r:embed="rId2"/>
          <a:stretch>
            <a:fillRect/>
          </a:stretch>
        </p:blipFill>
        <p:spPr>
          <a:xfrm>
            <a:off x="7868356" y="1109079"/>
            <a:ext cx="4302291" cy="3939822"/>
          </a:xfrm>
          <a:prstGeom prst="rect">
            <a:avLst/>
          </a:prstGeom>
        </p:spPr>
      </p:pic>
    </p:spTree>
    <p:extLst>
      <p:ext uri="{BB962C8B-B14F-4D97-AF65-F5344CB8AC3E}">
        <p14:creationId xmlns:p14="http://schemas.microsoft.com/office/powerpoint/2010/main" val="296424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52877-0C48-5832-A3A6-F82C9EE642F6}"/>
              </a:ext>
            </a:extLst>
          </p:cNvPr>
          <p:cNvSpPr>
            <a:spLocks noGrp="1"/>
          </p:cNvSpPr>
          <p:nvPr>
            <p:ph type="title"/>
          </p:nvPr>
        </p:nvSpPr>
        <p:spPr>
          <a:xfrm>
            <a:off x="348553" y="435917"/>
            <a:ext cx="3008179" cy="823861"/>
          </a:xfrm>
        </p:spPr>
        <p:txBody>
          <a:bodyPr>
            <a:norm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Tools Used:</a:t>
            </a:r>
          </a:p>
        </p:txBody>
      </p:sp>
      <p:pic>
        <p:nvPicPr>
          <p:cNvPr id="3076" name="Picture 4">
            <a:extLst>
              <a:ext uri="{FF2B5EF4-FFF2-40B4-BE49-F238E27FC236}">
                <a16:creationId xmlns:a16="http://schemas.microsoft.com/office/drawing/2014/main" id="{7091940F-394A-C4D9-49A9-28A0D53A39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6144" y="1432755"/>
            <a:ext cx="3930769" cy="1362075"/>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D143134B-5DDE-9DA9-C904-C2C12CE774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7014" y="4568005"/>
            <a:ext cx="3190875" cy="1428750"/>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RegEx - Transformation Services | openHAB">
            <a:extLst>
              <a:ext uri="{FF2B5EF4-FFF2-40B4-BE49-F238E27FC236}">
                <a16:creationId xmlns:a16="http://schemas.microsoft.com/office/drawing/2014/main" id="{EC2EC784-CEE9-A58C-1939-2AA806F636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9775" y="3063874"/>
            <a:ext cx="4019550" cy="1133475"/>
          </a:xfrm>
          <a:prstGeom prst="rect">
            <a:avLst/>
          </a:prstGeom>
          <a:noFill/>
          <a:extLst>
            <a:ext uri="{909E8E84-426E-40DD-AFC4-6F175D3DCCD1}">
              <a14:hiddenFill xmlns:a14="http://schemas.microsoft.com/office/drawing/2010/main">
                <a:solidFill>
                  <a:srgbClr val="FFFFFF"/>
                </a:solidFill>
              </a14:hiddenFill>
            </a:ext>
          </a:extLst>
        </p:spPr>
      </p:pic>
      <p:pic>
        <p:nvPicPr>
          <p:cNvPr id="3086" name="Picture 14" descr="Citing and logo — seaborn 0.13.2 ...">
            <a:extLst>
              <a:ext uri="{FF2B5EF4-FFF2-40B4-BE49-F238E27FC236}">
                <a16:creationId xmlns:a16="http://schemas.microsoft.com/office/drawing/2014/main" id="{7EC87C6C-8C0E-53D2-B133-B39020CFBBF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76632" y="1628315"/>
            <a:ext cx="4000500" cy="11430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Matplotlib Logo &amp; Brand Assets (SVG ...">
            <a:extLst>
              <a:ext uri="{FF2B5EF4-FFF2-40B4-BE49-F238E27FC236}">
                <a16:creationId xmlns:a16="http://schemas.microsoft.com/office/drawing/2014/main" id="{65CBCFCE-FD98-D992-1C08-65F5EFEB614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91926" y="3109858"/>
            <a:ext cx="3705225" cy="1228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4322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082"/>
                                        </p:tgtEl>
                                        <p:attrNameLst>
                                          <p:attrName>style.visibility</p:attrName>
                                        </p:attrNameLst>
                                      </p:cBhvr>
                                      <p:to>
                                        <p:strVal val="visible"/>
                                      </p:to>
                                    </p:set>
                                    <p:animEffect transition="in" filter="barn(inVertical)">
                                      <p:cBhvr>
                                        <p:cTn id="7" dur="500"/>
                                        <p:tgtEl>
                                          <p:spTgt spid="308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078"/>
                                        </p:tgtEl>
                                        <p:attrNameLst>
                                          <p:attrName>style.visibility</p:attrName>
                                        </p:attrNameLst>
                                      </p:cBhvr>
                                      <p:to>
                                        <p:strVal val="visible"/>
                                      </p:to>
                                    </p:set>
                                    <p:animEffect transition="in" filter="barn(inVertical)">
                                      <p:cBhvr>
                                        <p:cTn id="12" dur="500"/>
                                        <p:tgtEl>
                                          <p:spTgt spid="307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076"/>
                                        </p:tgtEl>
                                        <p:attrNameLst>
                                          <p:attrName>style.visibility</p:attrName>
                                        </p:attrNameLst>
                                      </p:cBhvr>
                                      <p:to>
                                        <p:strVal val="visible"/>
                                      </p:to>
                                    </p:set>
                                    <p:animEffect transition="in" filter="barn(inVertical)">
                                      <p:cBhvr>
                                        <p:cTn id="17" dur="500"/>
                                        <p:tgtEl>
                                          <p:spTgt spid="3076"/>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arn(inVertic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086"/>
                                        </p:tgtEl>
                                        <p:attrNameLst>
                                          <p:attrName>style.visibility</p:attrName>
                                        </p:attrNameLst>
                                      </p:cBhvr>
                                      <p:to>
                                        <p:strVal val="visible"/>
                                      </p:to>
                                    </p:set>
                                    <p:animEffect transition="in" filter="barn(inVertical)">
                                      <p:cBhvr>
                                        <p:cTn id="27" dur="500"/>
                                        <p:tgtEl>
                                          <p:spTgt spid="30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33525-D926-CE9E-E017-A7BE8655ED3C}"/>
              </a:ext>
            </a:extLst>
          </p:cNvPr>
          <p:cNvSpPr>
            <a:spLocks noGrp="1"/>
          </p:cNvSpPr>
          <p:nvPr>
            <p:ph type="title"/>
          </p:nvPr>
        </p:nvSpPr>
        <p:spPr>
          <a:xfrm>
            <a:off x="584036" y="249722"/>
            <a:ext cx="5008061" cy="723672"/>
          </a:xfrm>
        </p:spPr>
        <p:txBody>
          <a:bodyPr>
            <a:norm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Data Cleaning Steps:</a:t>
            </a:r>
          </a:p>
        </p:txBody>
      </p:sp>
      <p:sp>
        <p:nvSpPr>
          <p:cNvPr id="4" name="TextBox 3">
            <a:extLst>
              <a:ext uri="{FF2B5EF4-FFF2-40B4-BE49-F238E27FC236}">
                <a16:creationId xmlns:a16="http://schemas.microsoft.com/office/drawing/2014/main" id="{3B15DCCC-4D7B-11A3-E7AE-A55D7E9A484F}"/>
              </a:ext>
            </a:extLst>
          </p:cNvPr>
          <p:cNvSpPr txBox="1"/>
          <p:nvPr/>
        </p:nvSpPr>
        <p:spPr>
          <a:xfrm>
            <a:off x="796858" y="973394"/>
            <a:ext cx="10627497" cy="5324535"/>
          </a:xfrm>
          <a:prstGeom prst="rect">
            <a:avLst/>
          </a:prstGeom>
          <a:noFill/>
        </p:spPr>
        <p:txBody>
          <a:bodyPr wrap="square" rtlCol="0">
            <a:spAutoFit/>
          </a:bodyPr>
          <a:lstStyle/>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The raw dataset obtained from Flipkart contained </a:t>
            </a:r>
            <a:r>
              <a:rPr lang="en-GB" sz="2000" b="1" dirty="0">
                <a:latin typeface="Times New Roman" panose="02020603050405020304" pitchFamily="18" charset="0"/>
                <a:cs typeface="Times New Roman" panose="02020603050405020304" pitchFamily="18" charset="0"/>
              </a:rPr>
              <a:t>456 rows and 8 columns</a:t>
            </a:r>
            <a:r>
              <a:rPr lang="en-GB" sz="2000" dirty="0">
                <a:latin typeface="Times New Roman" panose="02020603050405020304" pitchFamily="18" charset="0"/>
                <a:cs typeface="Times New Roman" panose="02020603050405020304" pitchFamily="18" charset="0"/>
              </a:rPr>
              <a:t>, which included duplicate and incomplete records.</a:t>
            </a:r>
          </a:p>
          <a:p>
            <a:pPr algn="just"/>
            <a:endParaRPr lang="en-GB"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Missing values in columns such as </a:t>
            </a:r>
            <a:r>
              <a:rPr lang="en-GB" sz="2000" b="1" dirty="0">
                <a:latin typeface="Times New Roman" panose="02020603050405020304" pitchFamily="18" charset="0"/>
                <a:cs typeface="Times New Roman" panose="02020603050405020304" pitchFamily="18" charset="0"/>
              </a:rPr>
              <a:t>Price, Rating, and Review Count</a:t>
            </a:r>
            <a:r>
              <a:rPr lang="en-GB" sz="2000" dirty="0">
                <a:latin typeface="Times New Roman" panose="02020603050405020304" pitchFamily="18" charset="0"/>
                <a:cs typeface="Times New Roman" panose="02020603050405020304" pitchFamily="18" charset="0"/>
              </a:rPr>
              <a:t> were identified and handled using appropriate cleaning methods like removal or imputation.</a:t>
            </a:r>
          </a:p>
          <a:p>
            <a:pPr algn="just"/>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Duplicate product entries and irrelevant data were removed to ensure data consistency and reliability. Data types were converted into suitable formats — for example, Price was converted from text to numeric and Rating from string to float values.</a:t>
            </a:r>
          </a:p>
          <a:p>
            <a:endParaRPr lang="en-GB"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Additional useful features such as </a:t>
            </a:r>
            <a:r>
              <a:rPr lang="en-GB" sz="2000" b="1" dirty="0">
                <a:latin typeface="Times New Roman" panose="02020603050405020304" pitchFamily="18" charset="0"/>
                <a:cs typeface="Times New Roman" panose="02020603050405020304" pitchFamily="18" charset="0"/>
              </a:rPr>
              <a:t>Offer Percentage</a:t>
            </a:r>
            <a:r>
              <a:rPr lang="en-GB" sz="2000" dirty="0">
                <a:latin typeface="Times New Roman" panose="02020603050405020304" pitchFamily="18" charset="0"/>
                <a:cs typeface="Times New Roman" panose="02020603050405020304" pitchFamily="18" charset="0"/>
              </a:rPr>
              <a:t> and </a:t>
            </a:r>
            <a:r>
              <a:rPr lang="en-GB" sz="2000" b="1" dirty="0">
                <a:latin typeface="Times New Roman" panose="02020603050405020304" pitchFamily="18" charset="0"/>
                <a:cs typeface="Times New Roman" panose="02020603050405020304" pitchFamily="18" charset="0"/>
              </a:rPr>
              <a:t>Brand Category</a:t>
            </a:r>
            <a:r>
              <a:rPr lang="en-GB" sz="2000" dirty="0">
                <a:latin typeface="Times New Roman" panose="02020603050405020304" pitchFamily="18" charset="0"/>
                <a:cs typeface="Times New Roman" panose="02020603050405020304" pitchFamily="18" charset="0"/>
              </a:rPr>
              <a:t> were extracted from existing columns to enhance analysis.</a:t>
            </a:r>
          </a:p>
          <a:p>
            <a:endParaRPr lang="en-GB"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After cleaning and </a:t>
            </a:r>
            <a:r>
              <a:rPr lang="en-GB" sz="2000" dirty="0" err="1">
                <a:latin typeface="Times New Roman" panose="02020603050405020304" pitchFamily="18" charset="0"/>
                <a:cs typeface="Times New Roman" panose="02020603050405020304" pitchFamily="18" charset="0"/>
              </a:rPr>
              <a:t>preprocessing</a:t>
            </a:r>
            <a:r>
              <a:rPr lang="en-GB" sz="2000" dirty="0">
                <a:latin typeface="Times New Roman" panose="02020603050405020304" pitchFamily="18" charset="0"/>
                <a:cs typeface="Times New Roman" panose="02020603050405020304" pitchFamily="18" charset="0"/>
              </a:rPr>
              <a:t>, the final dataset contained </a:t>
            </a:r>
            <a:r>
              <a:rPr lang="en-GB" sz="2000" b="1" dirty="0">
                <a:latin typeface="Times New Roman" panose="02020603050405020304" pitchFamily="18" charset="0"/>
                <a:cs typeface="Times New Roman" panose="02020603050405020304" pitchFamily="18" charset="0"/>
              </a:rPr>
              <a:t>451 rows and 10 well-structured columns</a:t>
            </a:r>
            <a:r>
              <a:rPr lang="en-GB" sz="2000" dirty="0">
                <a:latin typeface="Times New Roman" panose="02020603050405020304" pitchFamily="18" charset="0"/>
                <a:cs typeface="Times New Roman" panose="02020603050405020304" pitchFamily="18" charset="0"/>
              </a:rPr>
              <a:t>, ensuring it was accurate, consistent, and ready for Exploratory Data Analysis (EDA).</a:t>
            </a: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4275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45493" y="1348298"/>
            <a:ext cx="4416816" cy="4530613"/>
          </a:xfrm>
          <a:prstGeom prst="rect">
            <a:avLst/>
          </a:prstGeom>
        </p:spPr>
      </p:pic>
      <p:pic>
        <p:nvPicPr>
          <p:cNvPr id="5" name="Picture 4"/>
          <p:cNvPicPr>
            <a:picLocks noChangeAspect="1"/>
          </p:cNvPicPr>
          <p:nvPr/>
        </p:nvPicPr>
        <p:blipFill>
          <a:blip r:embed="rId3"/>
          <a:stretch>
            <a:fillRect/>
          </a:stretch>
        </p:blipFill>
        <p:spPr>
          <a:xfrm>
            <a:off x="6099856" y="1465071"/>
            <a:ext cx="4861369" cy="4297065"/>
          </a:xfrm>
          <a:prstGeom prst="rect">
            <a:avLst/>
          </a:prstGeom>
        </p:spPr>
      </p:pic>
      <p:sp>
        <p:nvSpPr>
          <p:cNvPr id="11" name="Title 10"/>
          <p:cNvSpPr>
            <a:spLocks noGrp="1"/>
          </p:cNvSpPr>
          <p:nvPr>
            <p:ph type="title"/>
          </p:nvPr>
        </p:nvSpPr>
        <p:spPr>
          <a:xfrm>
            <a:off x="951533" y="226228"/>
            <a:ext cx="10296646" cy="983173"/>
          </a:xfrm>
        </p:spPr>
        <p:txBody>
          <a:bodyPr/>
          <a:lstStyle/>
          <a:p>
            <a:r>
              <a:rPr lang="en-GB" sz="3600" b="1" dirty="0" smtClean="0">
                <a:latin typeface="Times New Roman" panose="02020603050405020304" pitchFamily="18" charset="0"/>
                <a:cs typeface="Times New Roman" panose="02020603050405020304" pitchFamily="18" charset="0"/>
              </a:rPr>
              <a:t>Removing Outliers using Log Transformation</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04281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9B076-F25A-AF23-B2ED-E39CABA87A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156DB9-CFE0-861F-FD41-2793A641B21A}"/>
              </a:ext>
            </a:extLst>
          </p:cNvPr>
          <p:cNvSpPr>
            <a:spLocks noGrp="1"/>
          </p:cNvSpPr>
          <p:nvPr>
            <p:ph type="title"/>
          </p:nvPr>
        </p:nvSpPr>
        <p:spPr>
          <a:xfrm>
            <a:off x="0" y="354768"/>
            <a:ext cx="8559538" cy="1210081"/>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Price Distribution of Chimneys:</a:t>
            </a:r>
          </a:p>
        </p:txBody>
      </p:sp>
      <p:sp>
        <p:nvSpPr>
          <p:cNvPr id="7" name="Rectangle 6"/>
          <p:cNvSpPr/>
          <p:nvPr/>
        </p:nvSpPr>
        <p:spPr>
          <a:xfrm>
            <a:off x="895546" y="1357460"/>
            <a:ext cx="6004875" cy="3862596"/>
          </a:xfrm>
          <a:prstGeom prst="rect">
            <a:avLst/>
          </a:prstGeom>
        </p:spPr>
        <p:txBody>
          <a:bodyPr wrap="square">
            <a:spAutoFit/>
          </a:bodyPr>
          <a:lstStyle/>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Most chimneys are priced between  </a:t>
            </a:r>
            <a:r>
              <a:rPr lang="en-US" dirty="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5,000</a:t>
            </a:r>
            <a:r>
              <a:rPr lang="en-US" dirty="0">
                <a:latin typeface="Times New Roman" panose="02020603050405020304" pitchFamily="18" charset="0"/>
                <a:cs typeface="Times New Roman" panose="02020603050405020304" pitchFamily="18" charset="0"/>
              </a:rPr>
              <a:t> – </a:t>
            </a:r>
            <a:r>
              <a:rPr lang="en-US" sz="1600" dirty="0">
                <a:latin typeface="Times New Roman" panose="02020603050405020304" pitchFamily="18" charset="0"/>
                <a:cs typeface="Times New Roman" panose="02020603050405020304" pitchFamily="18" charset="0"/>
              </a:rPr>
              <a:t>20,000</a:t>
            </a:r>
            <a:r>
              <a:rPr lang="en-US"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Only a few premium models go above ₹</a:t>
            </a:r>
            <a:r>
              <a:rPr lang="en-IN" sz="1600" dirty="0">
                <a:latin typeface="Times New Roman" panose="02020603050405020304" pitchFamily="18" charset="0"/>
                <a:cs typeface="Times New Roman" panose="02020603050405020304" pitchFamily="18" charset="0"/>
              </a:rPr>
              <a:t>20,000.</a:t>
            </a:r>
          </a:p>
          <a:p>
            <a:pPr marL="342900" indent="-34290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Distribution is right-skewed, showing affordability focus.</a:t>
            </a:r>
          </a:p>
          <a:p>
            <a:pPr marL="34290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Represents a price-sensitive market segment.</a:t>
            </a:r>
          </a:p>
          <a:p>
            <a:pPr marL="34290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itchFamily="18" charset="0"/>
              </a:rPr>
              <a:t>Most chimneys are mid-range products, indicating brands target budget-conscious customers.</a:t>
            </a:r>
          </a:p>
          <a:p>
            <a:pPr marL="342900" indent="-34290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pic>
        <p:nvPicPr>
          <p:cNvPr id="1027" name="Picture 3"/>
          <p:cNvPicPr>
            <a:picLocks noChangeAspect="1" noChangeArrowheads="1"/>
          </p:cNvPicPr>
          <p:nvPr/>
        </p:nvPicPr>
        <p:blipFill>
          <a:blip r:embed="rId2"/>
          <a:srcRect/>
          <a:stretch>
            <a:fillRect/>
          </a:stretch>
        </p:blipFill>
        <p:spPr bwMode="auto">
          <a:xfrm>
            <a:off x="6759019" y="1357460"/>
            <a:ext cx="5159603" cy="4716118"/>
          </a:xfrm>
          <a:prstGeom prst="rect">
            <a:avLst/>
          </a:prstGeom>
          <a:noFill/>
          <a:ln w="9525">
            <a:noFill/>
            <a:miter lim="800000"/>
            <a:headEnd/>
            <a:tailEnd/>
          </a:ln>
          <a:effectLst/>
        </p:spPr>
      </p:pic>
    </p:spTree>
    <p:extLst>
      <p:ext uri="{BB962C8B-B14F-4D97-AF65-F5344CB8AC3E}">
        <p14:creationId xmlns:p14="http://schemas.microsoft.com/office/powerpoint/2010/main" val="2530832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9CB1F-F52B-AB9B-23B5-48A7B7E12F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A07876-07C0-93DC-2DD7-21561A9F9908}"/>
              </a:ext>
            </a:extLst>
          </p:cNvPr>
          <p:cNvSpPr>
            <a:spLocks noGrp="1"/>
          </p:cNvSpPr>
          <p:nvPr>
            <p:ph type="title"/>
          </p:nvPr>
        </p:nvSpPr>
        <p:spPr>
          <a:xfrm>
            <a:off x="0" y="354768"/>
            <a:ext cx="7503736" cy="614589"/>
          </a:xfrm>
        </p:spPr>
        <p:txBody>
          <a:bodyPr>
            <a:noAutofit/>
          </a:bodyPr>
          <a:lstStyle/>
          <a:p>
            <a:pPr algn="ctr"/>
            <a:r>
              <a:rPr lang="en-US" sz="4000" b="1" dirty="0">
                <a:latin typeface="Times New Roman" pitchFamily="18" charset="0"/>
                <a:cs typeface="Times New Roman" pitchFamily="18" charset="0"/>
              </a:rPr>
              <a:t>Customer Rating Distribution </a:t>
            </a:r>
            <a:r>
              <a:rPr lang="en-IN" sz="4000" b="1" dirty="0">
                <a:solidFill>
                  <a:schemeClr val="tx1"/>
                </a:solidFill>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id="{207890F0-5585-BA3C-7BA1-63E4312F4CE6}"/>
              </a:ext>
            </a:extLst>
          </p:cNvPr>
          <p:cNvSpPr txBox="1"/>
          <p:nvPr/>
        </p:nvSpPr>
        <p:spPr>
          <a:xfrm>
            <a:off x="810704" y="1084082"/>
            <a:ext cx="6193411" cy="4401205"/>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itchFamily="18" charset="0"/>
                <a:cs typeface="Times New Roman" pitchFamily="18" charset="0"/>
              </a:rPr>
              <a:t>Majority of chimneys have ratings</a:t>
            </a:r>
            <a:r>
              <a:rPr lang="en-US" sz="2000" b="1" dirty="0">
                <a:latin typeface="Times New Roman" pitchFamily="18" charset="0"/>
                <a:cs typeface="Times New Roman" pitchFamily="18" charset="0"/>
              </a:rPr>
              <a:t> </a:t>
            </a:r>
            <a:r>
              <a:rPr lang="en-US" sz="2000" dirty="0">
                <a:latin typeface="Times New Roman" pitchFamily="18" charset="0"/>
                <a:cs typeface="Times New Roman" pitchFamily="18" charset="0"/>
              </a:rPr>
              <a:t>between</a:t>
            </a:r>
            <a:r>
              <a:rPr lang="en-US" sz="2000" b="1" dirty="0">
                <a:latin typeface="Times New Roman" pitchFamily="18" charset="0"/>
                <a:cs typeface="Times New Roman" pitchFamily="18" charset="0"/>
              </a:rPr>
              <a:t> </a:t>
            </a:r>
            <a:r>
              <a:rPr lang="en-US" sz="2000" dirty="0">
                <a:latin typeface="Times New Roman" pitchFamily="18" charset="0"/>
                <a:cs typeface="Times New Roman" pitchFamily="18" charset="0"/>
              </a:rPr>
              <a:t>3.8</a:t>
            </a:r>
            <a:r>
              <a:rPr lang="en-US" sz="2000" b="1" dirty="0">
                <a:latin typeface="Times New Roman" pitchFamily="18" charset="0"/>
                <a:cs typeface="Times New Roman" pitchFamily="18" charset="0"/>
              </a:rPr>
              <a:t> </a:t>
            </a:r>
            <a:r>
              <a:rPr lang="en-US" sz="2000" dirty="0">
                <a:latin typeface="Times New Roman" pitchFamily="18" charset="0"/>
                <a:cs typeface="Times New Roman" pitchFamily="18" charset="0"/>
              </a:rPr>
              <a:t>and</a:t>
            </a:r>
            <a:r>
              <a:rPr lang="en-US" sz="2000" b="1" dirty="0">
                <a:latin typeface="Times New Roman" pitchFamily="18" charset="0"/>
                <a:cs typeface="Times New Roman" pitchFamily="18" charset="0"/>
              </a:rPr>
              <a:t> </a:t>
            </a:r>
            <a:r>
              <a:rPr lang="en-US" sz="2000" dirty="0">
                <a:latin typeface="Times New Roman" pitchFamily="18" charset="0"/>
                <a:cs typeface="Times New Roman" pitchFamily="18" charset="0"/>
              </a:rPr>
              <a:t>4.5</a:t>
            </a:r>
            <a:r>
              <a:rPr lang="en-US" sz="2000" dirty="0"/>
              <a:t>.</a:t>
            </a:r>
          </a:p>
          <a:p>
            <a:pPr marL="34290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Indicates consistently positive customer satisfaction</a:t>
            </a:r>
            <a:r>
              <a:rPr lang="en-US" sz="2000" dirty="0"/>
              <a:t>.</a:t>
            </a:r>
          </a:p>
          <a:p>
            <a:pPr marL="34290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Very few products fall below 3 — minimal negative feedback.</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Slightly </a:t>
            </a:r>
            <a:r>
              <a:rPr lang="en-US" sz="2000" b="1" dirty="0">
                <a:latin typeface="Times New Roman" pitchFamily="18" charset="0"/>
                <a:cs typeface="Times New Roman" pitchFamily="18" charset="0"/>
              </a:rPr>
              <a:t>left-skewed</a:t>
            </a:r>
            <a:r>
              <a:rPr lang="en-US" sz="2000" dirty="0">
                <a:latin typeface="Times New Roman" pitchFamily="18" charset="0"/>
                <a:cs typeface="Times New Roman" pitchFamily="18" charset="0"/>
              </a:rPr>
              <a:t>, showing overall good reviews.</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In this the summary is customers are generally happy, showing that most chimney models are reliable and well-received</a:t>
            </a:r>
            <a:r>
              <a:rPr lang="en-US" sz="2000" dirty="0"/>
              <a:t>.</a:t>
            </a:r>
            <a:endParaRPr lang="en-US" sz="2000" dirty="0">
              <a:latin typeface="Times New Roman" pitchFamily="18" charset="0"/>
              <a:cs typeface="Times New Roman" pitchFamily="18" charset="0"/>
            </a:endParaRP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endParaRPr lang="en-US" sz="2000"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srcRect/>
          <a:stretch>
            <a:fillRect/>
          </a:stretch>
        </p:blipFill>
        <p:spPr bwMode="auto">
          <a:xfrm>
            <a:off x="7145518" y="207391"/>
            <a:ext cx="4644106" cy="2875174"/>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7098384" y="3073138"/>
            <a:ext cx="4751108" cy="3233394"/>
          </a:xfrm>
          <a:prstGeom prst="rect">
            <a:avLst/>
          </a:prstGeom>
          <a:noFill/>
          <a:ln w="9525">
            <a:noFill/>
            <a:miter lim="800000"/>
            <a:headEnd/>
            <a:tailEnd/>
          </a:ln>
          <a:effectLst/>
        </p:spPr>
      </p:pic>
    </p:spTree>
    <p:extLst>
      <p:ext uri="{BB962C8B-B14F-4D97-AF65-F5344CB8AC3E}">
        <p14:creationId xmlns:p14="http://schemas.microsoft.com/office/powerpoint/2010/main" val="712714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66B82-888C-47A4-9A93-E3BDA0BC92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24AAAA-6A70-A375-E36A-57C13DEB250D}"/>
              </a:ext>
            </a:extLst>
          </p:cNvPr>
          <p:cNvSpPr>
            <a:spLocks noGrp="1"/>
          </p:cNvSpPr>
          <p:nvPr>
            <p:ph type="title"/>
          </p:nvPr>
        </p:nvSpPr>
        <p:spPr>
          <a:xfrm>
            <a:off x="0" y="354768"/>
            <a:ext cx="7051249" cy="614589"/>
          </a:xfrm>
        </p:spPr>
        <p:txBody>
          <a:bodyPr>
            <a:noAutofit/>
          </a:bodyPr>
          <a:lstStyle/>
          <a:p>
            <a:pPr algn="ctr"/>
            <a:r>
              <a:rPr lang="en-US" sz="4000" dirty="0">
                <a:latin typeface="Times New Roman" pitchFamily="18" charset="0"/>
                <a:cs typeface="Times New Roman" pitchFamily="18" charset="0"/>
              </a:rPr>
              <a:t>Review Count Distribution </a:t>
            </a:r>
            <a:r>
              <a:rPr lang="en-IN" sz="4000" b="1" dirty="0">
                <a:solidFill>
                  <a:schemeClr val="tx1"/>
                </a:solidFill>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id="{AB5F5D73-9438-374C-2CD9-92C838053E30}"/>
              </a:ext>
            </a:extLst>
          </p:cNvPr>
          <p:cNvSpPr txBox="1"/>
          <p:nvPr/>
        </p:nvSpPr>
        <p:spPr>
          <a:xfrm>
            <a:off x="801279" y="1093510"/>
            <a:ext cx="6938128" cy="5016758"/>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itchFamily="18" charset="0"/>
                <a:cs typeface="Times New Roman" pitchFamily="18" charset="0"/>
              </a:rPr>
              <a:t>The review counts are highly</a:t>
            </a:r>
            <a:r>
              <a:rPr lang="en-US" sz="2000" b="1" dirty="0">
                <a:latin typeface="Times New Roman" pitchFamily="18" charset="0"/>
                <a:cs typeface="Times New Roman" pitchFamily="18" charset="0"/>
              </a:rPr>
              <a:t> </a:t>
            </a:r>
            <a:r>
              <a:rPr lang="en-US" sz="2000" dirty="0">
                <a:latin typeface="Times New Roman" pitchFamily="18" charset="0"/>
                <a:cs typeface="Times New Roman" pitchFamily="18" charset="0"/>
              </a:rPr>
              <a:t>right-skewed, meaning most products have very few reviews.</a:t>
            </a:r>
          </a:p>
          <a:p>
            <a:pPr marL="342900" indent="-342900">
              <a:buFont typeface="Arial" panose="020B0604020202020204" pitchFamily="34" charset="0"/>
              <a:buChar char="•"/>
            </a:pPr>
            <a:endParaRPr lang="en-US"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A majority of products have under 100 reviews, showing relatively low customer engagement.</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However, a small number of products have extremely high reviews (500–2000+), indicating clear bestsellers.</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This suggests that a few popular models are driving most of the attention and customer trust in the market.</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b="1" dirty="0"/>
              <a:t>Overall Summary:</a:t>
            </a:r>
            <a:r>
              <a:rPr lang="en-US" sz="2000" dirty="0"/>
              <a:t/>
            </a:r>
            <a:br>
              <a:rPr lang="en-US" sz="2000" dirty="0"/>
            </a:br>
            <a:r>
              <a:rPr lang="en-US" sz="2000" dirty="0">
                <a:latin typeface="Times New Roman" pitchFamily="18" charset="0"/>
                <a:cs typeface="Times New Roman" pitchFamily="18" charset="0"/>
              </a:rPr>
              <a:t>The market’s popularity is not evenly spread-a handful of top models dominate, while the majority remain less noticed.</a:t>
            </a:r>
          </a:p>
          <a:p>
            <a:pPr marL="342900" indent="-342900">
              <a:buFont typeface="Arial" panose="020B0604020202020204" pitchFamily="34" charset="0"/>
              <a:buChar char="•"/>
            </a:pPr>
            <a:endParaRPr lang="en-US" sz="2000" dirty="0">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a:srcRect/>
          <a:stretch>
            <a:fillRect/>
          </a:stretch>
        </p:blipFill>
        <p:spPr bwMode="auto">
          <a:xfrm>
            <a:off x="7343480" y="395926"/>
            <a:ext cx="4468305" cy="2696066"/>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a:srcRect/>
          <a:stretch>
            <a:fillRect/>
          </a:stretch>
        </p:blipFill>
        <p:spPr bwMode="auto">
          <a:xfrm>
            <a:off x="7371761" y="3195687"/>
            <a:ext cx="4487159" cy="2960016"/>
          </a:xfrm>
          <a:prstGeom prst="rect">
            <a:avLst/>
          </a:prstGeom>
          <a:noFill/>
          <a:ln w="9525">
            <a:noFill/>
            <a:miter lim="800000"/>
            <a:headEnd/>
            <a:tailEnd/>
          </a:ln>
          <a:effectLst/>
        </p:spPr>
      </p:pic>
    </p:spTree>
    <p:extLst>
      <p:ext uri="{BB962C8B-B14F-4D97-AF65-F5344CB8AC3E}">
        <p14:creationId xmlns:p14="http://schemas.microsoft.com/office/powerpoint/2010/main" val="2723714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98682-D684-5CBE-45F7-312D5903DC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CBA065-3F45-1970-A334-E1F2237E112B}"/>
              </a:ext>
            </a:extLst>
          </p:cNvPr>
          <p:cNvSpPr>
            <a:spLocks noGrp="1"/>
          </p:cNvSpPr>
          <p:nvPr>
            <p:ph type="title"/>
          </p:nvPr>
        </p:nvSpPr>
        <p:spPr>
          <a:xfrm>
            <a:off x="424205" y="354768"/>
            <a:ext cx="7400041" cy="614589"/>
          </a:xfrm>
        </p:spPr>
        <p:txBody>
          <a:bodyPr>
            <a:noAutofit/>
          </a:bodyPr>
          <a:lstStyle/>
          <a:p>
            <a:pPr algn="ctr"/>
            <a:r>
              <a:rPr lang="en-US" sz="4000" b="1" dirty="0">
                <a:latin typeface="Times New Roman" pitchFamily="18" charset="0"/>
                <a:cs typeface="Times New Roman" pitchFamily="18" charset="0"/>
              </a:rPr>
              <a:t>Discount Offers on Chimneys </a:t>
            </a:r>
            <a:r>
              <a:rPr lang="en-IN" sz="4000" b="1" dirty="0">
                <a:solidFill>
                  <a:schemeClr val="tx1"/>
                </a:solidFill>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id="{720DFE87-3B98-24A9-3C1B-2A43B4D9DD06}"/>
              </a:ext>
            </a:extLst>
          </p:cNvPr>
          <p:cNvSpPr txBox="1"/>
          <p:nvPr/>
        </p:nvSpPr>
        <p:spPr>
          <a:xfrm>
            <a:off x="1018094" y="1135517"/>
            <a:ext cx="6014301" cy="5324535"/>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itchFamily="18" charset="0"/>
                <a:cs typeface="Times New Roman" pitchFamily="18" charset="0"/>
              </a:rPr>
              <a:t>Most products are offered at 40% to 70% discounts.</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There is a noticeable peak around 60–70%, which appears to be the most common discount range.</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This indicates a highly competitive and discount-focused market.</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Brands seem to use discounts strategically to </a:t>
            </a:r>
            <a:r>
              <a:rPr lang="en-US" sz="2000" b="1" dirty="0">
                <a:latin typeface="Times New Roman" pitchFamily="18" charset="0"/>
                <a:cs typeface="Times New Roman" pitchFamily="18" charset="0"/>
              </a:rPr>
              <a:t>attract price-sensitive, mid-range buyers</a:t>
            </a:r>
            <a:r>
              <a:rPr lang="en-US" sz="2000" dirty="0">
                <a:latin typeface="Times New Roman" pitchFamily="18" charset="0"/>
                <a:cs typeface="Times New Roman" pitchFamily="18" charset="0"/>
              </a:rPr>
              <a:t>.</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b="1" dirty="0">
                <a:latin typeface="Times New Roman" pitchFamily="18" charset="0"/>
                <a:cs typeface="Times New Roman" pitchFamily="18" charset="0"/>
              </a:rPr>
              <a:t>Overall Summary</a:t>
            </a:r>
            <a:r>
              <a:rPr lang="en-US" sz="2000" b="1" dirty="0"/>
              <a:t>:</a:t>
            </a:r>
            <a:r>
              <a:rPr lang="en-US" sz="2000" dirty="0"/>
              <a:t/>
            </a:r>
            <a:br>
              <a:rPr lang="en-US" sz="2000" dirty="0"/>
            </a:br>
            <a:r>
              <a:rPr lang="en-US" sz="2000" dirty="0">
                <a:latin typeface="Times New Roman" pitchFamily="18" charset="0"/>
                <a:cs typeface="Times New Roman" pitchFamily="18" charset="0"/>
              </a:rPr>
              <a:t>Heavy discounting is a key marketing tactic used to drive sales and stand out in a crowded market segment.</a:t>
            </a:r>
          </a:p>
          <a:p>
            <a:pPr marL="342900" indent="-342900">
              <a:buFont typeface="Arial" panose="020B0604020202020204" pitchFamily="34" charset="0"/>
              <a:buChar char="•"/>
            </a:pPr>
            <a:endParaRPr lang="en-US" sz="2000" dirty="0">
              <a:latin typeface="Times New Roman" pitchFamily="18" charset="0"/>
              <a:cs typeface="Times New Roman" pitchFamily="18" charset="0"/>
            </a:endParaRPr>
          </a:p>
          <a:p>
            <a:pPr marL="342900" indent="-342900">
              <a:buFont typeface="Arial" panose="020B0604020202020204" pitchFamily="34" charset="0"/>
              <a:buChar char="•"/>
            </a:pPr>
            <a:endParaRPr lang="en-US" sz="2000" dirty="0">
              <a:latin typeface="Times New Roman" pitchFamily="18" charset="0"/>
              <a:cs typeface="Times New Roman" pitchFamily="18" charset="0"/>
            </a:endParaRPr>
          </a:p>
        </p:txBody>
      </p:sp>
      <p:pic>
        <p:nvPicPr>
          <p:cNvPr id="4098" name="Picture 2"/>
          <p:cNvPicPr>
            <a:picLocks noChangeAspect="1" noChangeArrowheads="1"/>
          </p:cNvPicPr>
          <p:nvPr/>
        </p:nvPicPr>
        <p:blipFill>
          <a:blip r:embed="rId2"/>
          <a:srcRect/>
          <a:stretch>
            <a:fillRect/>
          </a:stretch>
        </p:blipFill>
        <p:spPr bwMode="auto">
          <a:xfrm>
            <a:off x="6985262" y="1663172"/>
            <a:ext cx="5206738" cy="4153165"/>
          </a:xfrm>
          <a:prstGeom prst="rect">
            <a:avLst/>
          </a:prstGeom>
          <a:noFill/>
          <a:ln w="9525">
            <a:noFill/>
            <a:miter lim="800000"/>
            <a:headEnd/>
            <a:tailEnd/>
          </a:ln>
          <a:effectLst/>
        </p:spPr>
      </p:pic>
    </p:spTree>
    <p:extLst>
      <p:ext uri="{BB962C8B-B14F-4D97-AF65-F5344CB8AC3E}">
        <p14:creationId xmlns:p14="http://schemas.microsoft.com/office/powerpoint/2010/main" val="3058148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49E88-4526-D32F-FA99-F8D0DD3350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811ECB-3EDE-E23F-4E4E-253ECB3A56FB}"/>
              </a:ext>
            </a:extLst>
          </p:cNvPr>
          <p:cNvSpPr>
            <a:spLocks noGrp="1"/>
          </p:cNvSpPr>
          <p:nvPr>
            <p:ph type="title"/>
          </p:nvPr>
        </p:nvSpPr>
        <p:spPr>
          <a:xfrm>
            <a:off x="301658" y="354768"/>
            <a:ext cx="5920033" cy="614589"/>
          </a:xfrm>
        </p:spPr>
        <p:txBody>
          <a:bodyPr>
            <a:noAutofit/>
          </a:bodyPr>
          <a:lstStyle/>
          <a:p>
            <a:pPr algn="ctr"/>
            <a:r>
              <a:rPr lang="en-US" sz="4000" b="1" dirty="0">
                <a:latin typeface="Times New Roman" pitchFamily="18" charset="0"/>
                <a:cs typeface="Times New Roman" pitchFamily="18" charset="0"/>
              </a:rPr>
              <a:t>Popular Chimney Sizes </a:t>
            </a:r>
            <a:r>
              <a:rPr lang="en-IN" sz="4000" b="1" dirty="0">
                <a:solidFill>
                  <a:schemeClr val="tx1"/>
                </a:solidFill>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id="{DE21B98C-36DD-1030-763D-766FCDBA9E17}"/>
              </a:ext>
            </a:extLst>
          </p:cNvPr>
          <p:cNvSpPr txBox="1"/>
          <p:nvPr/>
        </p:nvSpPr>
        <p:spPr>
          <a:xfrm>
            <a:off x="667108" y="1474881"/>
            <a:ext cx="6393567" cy="5016758"/>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itchFamily="18" charset="0"/>
                <a:cs typeface="Times New Roman" pitchFamily="18" charset="0"/>
              </a:rPr>
              <a:t>60 cm models are the most common, dominating the market.</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90 cm chimneys come next in popularity.</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Only a small number of products are available in other sizes (e.g., 75 cm, 108 cm).</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This reflects a focus on typical Indian kitchen dimensions</a:t>
            </a:r>
            <a:r>
              <a:rPr lang="en-US" sz="2000" dirty="0"/>
              <a:t>.</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b="1" dirty="0">
                <a:latin typeface="Times New Roman" pitchFamily="18" charset="0"/>
                <a:cs typeface="Times New Roman" pitchFamily="18" charset="0"/>
              </a:rPr>
              <a:t>Overall Summary:</a:t>
            </a:r>
            <a:r>
              <a:rPr lang="en-US" sz="2000" dirty="0"/>
              <a:t/>
            </a:r>
            <a:br>
              <a:rPr lang="en-US" sz="2000" dirty="0"/>
            </a:br>
            <a:r>
              <a:rPr lang="en-US" sz="2000" dirty="0">
                <a:latin typeface="Times New Roman" pitchFamily="18" charset="0"/>
                <a:cs typeface="Times New Roman" pitchFamily="18" charset="0"/>
              </a:rPr>
              <a:t>The 60 cm size is the standard choice for most households, aligning well with average stove widths and kitchen layouts.</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p:txBody>
      </p:sp>
      <p:pic>
        <p:nvPicPr>
          <p:cNvPr id="5122" name="Picture 2"/>
          <p:cNvPicPr>
            <a:picLocks noChangeAspect="1" noChangeArrowheads="1"/>
          </p:cNvPicPr>
          <p:nvPr/>
        </p:nvPicPr>
        <p:blipFill>
          <a:blip r:embed="rId2"/>
          <a:srcRect/>
          <a:stretch>
            <a:fillRect/>
          </a:stretch>
        </p:blipFill>
        <p:spPr bwMode="auto">
          <a:xfrm>
            <a:off x="6708615" y="1187779"/>
            <a:ext cx="5002615" cy="4289195"/>
          </a:xfrm>
          <a:prstGeom prst="rect">
            <a:avLst/>
          </a:prstGeom>
          <a:noFill/>
          <a:ln w="9525">
            <a:noFill/>
            <a:miter lim="800000"/>
            <a:headEnd/>
            <a:tailEnd/>
          </a:ln>
          <a:effectLst/>
        </p:spPr>
      </p:pic>
    </p:spTree>
    <p:extLst>
      <p:ext uri="{BB962C8B-B14F-4D97-AF65-F5344CB8AC3E}">
        <p14:creationId xmlns:p14="http://schemas.microsoft.com/office/powerpoint/2010/main" val="3217503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55667-5F7A-A4C2-EFC8-E358619551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D4E140-5F98-DE88-FD81-3C52AFAACE49}"/>
              </a:ext>
            </a:extLst>
          </p:cNvPr>
          <p:cNvSpPr>
            <a:spLocks noGrp="1"/>
          </p:cNvSpPr>
          <p:nvPr>
            <p:ph type="title"/>
          </p:nvPr>
        </p:nvSpPr>
        <p:spPr>
          <a:xfrm>
            <a:off x="-169683" y="392475"/>
            <a:ext cx="5402943" cy="614589"/>
          </a:xfrm>
        </p:spPr>
        <p:txBody>
          <a:bodyPr>
            <a:noAutofit/>
          </a:bodyPr>
          <a:lstStyle/>
          <a:p>
            <a:pPr algn="ctr"/>
            <a:r>
              <a:rPr lang="en-US" sz="4000" b="1" dirty="0">
                <a:latin typeface="Times New Roman" pitchFamily="18" charset="0"/>
                <a:cs typeface="Times New Roman" pitchFamily="18" charset="0"/>
              </a:rPr>
              <a:t>Price VS Rating </a:t>
            </a:r>
            <a:r>
              <a:rPr lang="en-IN" sz="4000" b="1" dirty="0">
                <a:solidFill>
                  <a:schemeClr val="tx1"/>
                </a:solidFill>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id="{843DA78F-BD5C-9EC8-C098-C05D7761A9C3}"/>
              </a:ext>
            </a:extLst>
          </p:cNvPr>
          <p:cNvSpPr txBox="1"/>
          <p:nvPr/>
        </p:nvSpPr>
        <p:spPr>
          <a:xfrm>
            <a:off x="883925" y="1182647"/>
            <a:ext cx="6600958" cy="5324535"/>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itchFamily="18" charset="0"/>
                <a:cs typeface="Times New Roman" pitchFamily="18" charset="0"/>
              </a:rPr>
              <a:t>There is no clear correlation between product price and customer ratings.</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Ratings generally remain within the 3.8 to 4.5 range, regardless of price.</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This suggests customers prioritize quality and performance over cost.</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Higher-priced products do not necessarily receive better ratings.</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b="1" dirty="0">
                <a:latin typeface="Times New Roman" pitchFamily="18" charset="0"/>
                <a:cs typeface="Times New Roman" pitchFamily="18" charset="0"/>
              </a:rPr>
              <a:t>Overall Summary:</a:t>
            </a:r>
            <a:r>
              <a:rPr lang="en-US" sz="2000" dirty="0"/>
              <a:t/>
            </a:r>
            <a:br>
              <a:rPr lang="en-US" sz="2000" dirty="0"/>
            </a:br>
            <a:r>
              <a:rPr lang="en-US" sz="2000" dirty="0">
                <a:latin typeface="Times New Roman" pitchFamily="18" charset="0"/>
                <a:cs typeface="Times New Roman" pitchFamily="18" charset="0"/>
              </a:rPr>
              <a:t>Price does not guarantee satisfaction — customers often favor reliable mid-range products that deliver good performance for the value.</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p:txBody>
      </p:sp>
      <p:pic>
        <p:nvPicPr>
          <p:cNvPr id="6146" name="Picture 2"/>
          <p:cNvPicPr>
            <a:picLocks noChangeAspect="1" noChangeArrowheads="1"/>
          </p:cNvPicPr>
          <p:nvPr/>
        </p:nvPicPr>
        <p:blipFill>
          <a:blip r:embed="rId2"/>
          <a:srcRect/>
          <a:stretch>
            <a:fillRect/>
          </a:stretch>
        </p:blipFill>
        <p:spPr bwMode="auto">
          <a:xfrm>
            <a:off x="7513163" y="1055802"/>
            <a:ext cx="4477028" cy="4590853"/>
          </a:xfrm>
          <a:prstGeom prst="rect">
            <a:avLst/>
          </a:prstGeom>
          <a:noFill/>
          <a:ln w="9525">
            <a:noFill/>
            <a:miter lim="800000"/>
            <a:headEnd/>
            <a:tailEnd/>
          </a:ln>
          <a:effectLst/>
        </p:spPr>
      </p:pic>
    </p:spTree>
    <p:extLst>
      <p:ext uri="{BB962C8B-B14F-4D97-AF65-F5344CB8AC3E}">
        <p14:creationId xmlns:p14="http://schemas.microsoft.com/office/powerpoint/2010/main" val="1775180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B6375-873F-A5A0-AEE6-0EE96A9B35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A96D57-B54C-227A-553D-FBD81EC08A9D}"/>
              </a:ext>
            </a:extLst>
          </p:cNvPr>
          <p:cNvSpPr>
            <a:spLocks noGrp="1"/>
          </p:cNvSpPr>
          <p:nvPr>
            <p:ph type="title"/>
          </p:nvPr>
        </p:nvSpPr>
        <p:spPr>
          <a:xfrm>
            <a:off x="0" y="609292"/>
            <a:ext cx="11726944" cy="614589"/>
          </a:xfrm>
        </p:spPr>
        <p:txBody>
          <a:bodyPr>
            <a:noAutofit/>
          </a:bodyPr>
          <a:lstStyle/>
          <a:p>
            <a:pPr algn="ctr"/>
            <a:r>
              <a:rPr lang="en-US" sz="4000" b="1" dirty="0">
                <a:latin typeface="Times New Roman" pitchFamily="18" charset="0"/>
                <a:cs typeface="Times New Roman" pitchFamily="18" charset="0"/>
              </a:rPr>
              <a:t>Brand Performance: Suction Capacity </a:t>
            </a:r>
            <a:r>
              <a:rPr lang="en-US" sz="4000" b="1" dirty="0" err="1">
                <a:latin typeface="Times New Roman" pitchFamily="18" charset="0"/>
                <a:cs typeface="Times New Roman" pitchFamily="18" charset="0"/>
              </a:rPr>
              <a:t>vs</a:t>
            </a:r>
            <a:r>
              <a:rPr lang="en-US" sz="4000" b="1" dirty="0">
                <a:latin typeface="Times New Roman" pitchFamily="18" charset="0"/>
                <a:cs typeface="Times New Roman" pitchFamily="18" charset="0"/>
              </a:rPr>
              <a:t> Rating </a:t>
            </a:r>
            <a:r>
              <a:rPr lang="en-IN" sz="4000" b="1" dirty="0">
                <a:solidFill>
                  <a:schemeClr val="tx1"/>
                </a:solidFill>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id="{4FD69F69-AE06-2596-25E3-9599EFAFCE0B}"/>
              </a:ext>
            </a:extLst>
          </p:cNvPr>
          <p:cNvSpPr txBox="1"/>
          <p:nvPr/>
        </p:nvSpPr>
        <p:spPr>
          <a:xfrm>
            <a:off x="581384" y="1328456"/>
            <a:ext cx="6630122" cy="4401205"/>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itchFamily="18" charset="0"/>
                <a:cs typeface="Times New Roman" pitchFamily="18" charset="0"/>
              </a:rPr>
              <a:t>Ratings remain consistently high across different brands.</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There is no strong link between suction power and customer ratings.</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Some brands achieve high ratings even with mid-range suction levels.</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This suggests that brand trust and reputation play a major role in customer satisfaction.</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b="1" dirty="0">
                <a:latin typeface="Times New Roman" pitchFamily="18" charset="0"/>
                <a:cs typeface="Times New Roman" pitchFamily="18" charset="0"/>
              </a:rPr>
              <a:t>Overall Summary:</a:t>
            </a:r>
            <a:r>
              <a:rPr lang="en-US" sz="2000" dirty="0"/>
              <a:t/>
            </a:r>
            <a:br>
              <a:rPr lang="en-US" sz="2000" dirty="0"/>
            </a:br>
            <a:r>
              <a:rPr lang="en-US" sz="2000" dirty="0">
                <a:latin typeface="Times New Roman" pitchFamily="18" charset="0"/>
                <a:cs typeface="Times New Roman" pitchFamily="18" charset="0"/>
              </a:rPr>
              <a:t>Customer satisfaction is driven more by brand credibility than by technical specifications alone.</a:t>
            </a:r>
          </a:p>
        </p:txBody>
      </p:sp>
      <p:pic>
        <p:nvPicPr>
          <p:cNvPr id="7171" name="Picture 3"/>
          <p:cNvPicPr>
            <a:picLocks noChangeAspect="1" noChangeArrowheads="1"/>
          </p:cNvPicPr>
          <p:nvPr/>
        </p:nvPicPr>
        <p:blipFill>
          <a:blip r:embed="rId2"/>
          <a:srcRect/>
          <a:stretch>
            <a:fillRect/>
          </a:stretch>
        </p:blipFill>
        <p:spPr bwMode="auto">
          <a:xfrm>
            <a:off x="6853287" y="1574277"/>
            <a:ext cx="5338713" cy="4100660"/>
          </a:xfrm>
          <a:prstGeom prst="rect">
            <a:avLst/>
          </a:prstGeom>
          <a:noFill/>
          <a:ln w="9525">
            <a:noFill/>
            <a:miter lim="800000"/>
            <a:headEnd/>
            <a:tailEnd/>
          </a:ln>
          <a:effectLst/>
        </p:spPr>
      </p:pic>
    </p:spTree>
    <p:extLst>
      <p:ext uri="{BB962C8B-B14F-4D97-AF65-F5344CB8AC3E}">
        <p14:creationId xmlns:p14="http://schemas.microsoft.com/office/powerpoint/2010/main" val="1773201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9818E-DAFD-9A23-AA9C-58C42077D3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B0C189-12E1-CAA7-F203-94A1E3CDCF9D}"/>
              </a:ext>
            </a:extLst>
          </p:cNvPr>
          <p:cNvSpPr>
            <a:spLocks noGrp="1"/>
          </p:cNvSpPr>
          <p:nvPr>
            <p:ph type="title"/>
          </p:nvPr>
        </p:nvSpPr>
        <p:spPr>
          <a:xfrm>
            <a:off x="0" y="354768"/>
            <a:ext cx="6768445" cy="614589"/>
          </a:xfrm>
        </p:spPr>
        <p:txBody>
          <a:bodyPr>
            <a:noAutofit/>
          </a:bodyPr>
          <a:lstStyle/>
          <a:p>
            <a:pPr algn="ctr"/>
            <a:r>
              <a:rPr lang="en-US" sz="4000" b="1" dirty="0">
                <a:latin typeface="Times New Roman" pitchFamily="18" charset="0"/>
                <a:cs typeface="Times New Roman" pitchFamily="18" charset="0"/>
              </a:rPr>
              <a:t>Offer Percentage VS Price </a:t>
            </a:r>
            <a:r>
              <a:rPr lang="en-IN" sz="4000" b="1" dirty="0">
                <a:solidFill>
                  <a:schemeClr val="tx1"/>
                </a:solidFill>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id="{1228D7F5-86EB-026A-C8B3-D862C9E02CF8}"/>
              </a:ext>
            </a:extLst>
          </p:cNvPr>
          <p:cNvSpPr txBox="1"/>
          <p:nvPr/>
        </p:nvSpPr>
        <p:spPr>
          <a:xfrm>
            <a:off x="704816" y="1163796"/>
            <a:ext cx="6280446" cy="5016758"/>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itchFamily="18" charset="0"/>
                <a:cs typeface="Times New Roman" pitchFamily="18" charset="0"/>
              </a:rPr>
              <a:t>There is a slightly negative trend — higher-priced models tend to have smaller discounts.</a:t>
            </a:r>
          </a:p>
          <a:p>
            <a:pPr marL="34290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Mid-range products (₹8K–₹15K) usually offer the highest discounts</a:t>
            </a:r>
            <a:r>
              <a:rPr lang="en-US" sz="2000" dirty="0"/>
              <a:t>.</a:t>
            </a:r>
          </a:p>
          <a:p>
            <a:pPr marL="34290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This suggests brands use strategic discounting to boost sales in the mid-range segment</a:t>
            </a:r>
            <a:r>
              <a:rPr lang="en-US" sz="2000" dirty="0"/>
              <a:t>.</a:t>
            </a:r>
          </a:p>
          <a:p>
            <a:pPr marL="34290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It helps attract a larger mass-market audience looking for value.</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b="1" dirty="0">
                <a:latin typeface="Times New Roman" pitchFamily="18" charset="0"/>
                <a:cs typeface="Times New Roman" pitchFamily="18" charset="0"/>
              </a:rPr>
              <a:t>Overall Summary</a:t>
            </a:r>
            <a:r>
              <a:rPr lang="en-US" sz="2000" b="1" dirty="0"/>
              <a:t>:</a:t>
            </a:r>
            <a:r>
              <a:rPr lang="en-US" sz="2000" dirty="0"/>
              <a:t/>
            </a:r>
            <a:br>
              <a:rPr lang="en-US" sz="2000" dirty="0"/>
            </a:br>
            <a:r>
              <a:rPr lang="en-US" sz="2000" dirty="0">
                <a:latin typeface="Times New Roman" pitchFamily="18" charset="0"/>
                <a:cs typeface="Times New Roman" pitchFamily="18" charset="0"/>
              </a:rPr>
              <a:t>Discounts are maximized in the mid-price category to appeal to everyday buyers and increase sales volume.</a:t>
            </a:r>
          </a:p>
        </p:txBody>
      </p:sp>
      <p:pic>
        <p:nvPicPr>
          <p:cNvPr id="8194" name="Picture 2"/>
          <p:cNvPicPr>
            <a:picLocks noChangeAspect="1" noChangeArrowheads="1"/>
          </p:cNvPicPr>
          <p:nvPr/>
        </p:nvPicPr>
        <p:blipFill>
          <a:blip r:embed="rId2"/>
          <a:srcRect/>
          <a:stretch>
            <a:fillRect/>
          </a:stretch>
        </p:blipFill>
        <p:spPr bwMode="auto">
          <a:xfrm>
            <a:off x="6862713" y="1140643"/>
            <a:ext cx="4911365" cy="4835951"/>
          </a:xfrm>
          <a:prstGeom prst="rect">
            <a:avLst/>
          </a:prstGeom>
          <a:noFill/>
          <a:ln w="9525">
            <a:noFill/>
            <a:miter lim="800000"/>
            <a:headEnd/>
            <a:tailEnd/>
          </a:ln>
          <a:effectLst/>
        </p:spPr>
      </p:pic>
    </p:spTree>
    <p:extLst>
      <p:ext uri="{BB962C8B-B14F-4D97-AF65-F5344CB8AC3E}">
        <p14:creationId xmlns:p14="http://schemas.microsoft.com/office/powerpoint/2010/main" val="4218413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7BBF4-1CFA-CD8B-899F-E41585DD19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0BB468-2A6E-A565-4345-2C57412BA21E}"/>
              </a:ext>
            </a:extLst>
          </p:cNvPr>
          <p:cNvSpPr>
            <a:spLocks noGrp="1"/>
          </p:cNvSpPr>
          <p:nvPr>
            <p:ph type="title"/>
          </p:nvPr>
        </p:nvSpPr>
        <p:spPr>
          <a:xfrm>
            <a:off x="0" y="373927"/>
            <a:ext cx="11585542" cy="614589"/>
          </a:xfrm>
        </p:spPr>
        <p:txBody>
          <a:bodyPr>
            <a:noAutofit/>
          </a:bodyPr>
          <a:lstStyle/>
          <a:p>
            <a:pPr algn="ctr"/>
            <a:r>
              <a:rPr lang="en-US" sz="4000" b="1" dirty="0">
                <a:latin typeface="Times New Roman" pitchFamily="18" charset="0"/>
                <a:cs typeface="Times New Roman" pitchFamily="18" charset="0"/>
              </a:rPr>
              <a:t>3D Analysis: Price, Rating &amp; Suction Capacity </a:t>
            </a:r>
            <a:r>
              <a:rPr lang="en-IN" sz="4000" b="1" dirty="0">
                <a:solidFill>
                  <a:schemeClr val="tx1"/>
                </a:solidFill>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id="{EEAE2E40-2FB2-04D8-FD57-E214BC76FFF0}"/>
              </a:ext>
            </a:extLst>
          </p:cNvPr>
          <p:cNvSpPr txBox="1"/>
          <p:nvPr/>
        </p:nvSpPr>
        <p:spPr>
          <a:xfrm>
            <a:off x="667109" y="1566746"/>
            <a:ext cx="5428891" cy="4401205"/>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itchFamily="18" charset="0"/>
                <a:cs typeface="Times New Roman" pitchFamily="18" charset="0"/>
              </a:rPr>
              <a:t>Best-rated chimneys cluster between ₹10K–₹15K and 1200–1500 CMH.</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High-end models don’t always have better ratings.</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Optimal range: mid-price + high suction = best satisfaction.</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b="1" dirty="0">
                <a:latin typeface="Times New Roman" pitchFamily="18" charset="0"/>
                <a:cs typeface="Times New Roman" pitchFamily="18" charset="0"/>
              </a:rPr>
              <a:t>Overall Summary:</a:t>
            </a:r>
            <a:r>
              <a:rPr lang="en-US" sz="2000" dirty="0"/>
              <a:t/>
            </a:r>
            <a:br>
              <a:rPr lang="en-US" sz="2000" dirty="0"/>
            </a:br>
            <a:r>
              <a:rPr lang="en-US" sz="2000" dirty="0">
                <a:latin typeface="Times New Roman" pitchFamily="18" charset="0"/>
                <a:cs typeface="Times New Roman" pitchFamily="18" charset="0"/>
              </a:rPr>
              <a:t>Chimneys offering 1200–1500 CMH suction at a mid-range price give the best customer ratings.</a:t>
            </a:r>
          </a:p>
          <a:p>
            <a:pPr marL="342900" indent="-342900">
              <a:buFont typeface="Arial" panose="020B0604020202020204" pitchFamily="34" charset="0"/>
              <a:buChar char="•"/>
            </a:pPr>
            <a:endParaRPr lang="en-US" sz="2000" dirty="0">
              <a:latin typeface="Times New Roman" pitchFamily="18" charset="0"/>
              <a:cs typeface="Times New Roman" pitchFamily="18" charset="0"/>
            </a:endParaRPr>
          </a:p>
        </p:txBody>
      </p:sp>
      <p:pic>
        <p:nvPicPr>
          <p:cNvPr id="9218" name="Picture 2"/>
          <p:cNvPicPr>
            <a:picLocks noChangeAspect="1" noChangeArrowheads="1"/>
          </p:cNvPicPr>
          <p:nvPr/>
        </p:nvPicPr>
        <p:blipFill>
          <a:blip r:embed="rId2"/>
          <a:srcRect/>
          <a:stretch>
            <a:fillRect/>
          </a:stretch>
        </p:blipFill>
        <p:spPr bwMode="auto">
          <a:xfrm>
            <a:off x="6680138" y="1745742"/>
            <a:ext cx="5276192" cy="3796829"/>
          </a:xfrm>
          <a:prstGeom prst="rect">
            <a:avLst/>
          </a:prstGeom>
          <a:noFill/>
          <a:ln w="9525">
            <a:noFill/>
            <a:miter lim="800000"/>
            <a:headEnd/>
            <a:tailEnd/>
          </a:ln>
          <a:effectLst/>
        </p:spPr>
      </p:pic>
    </p:spTree>
    <p:extLst>
      <p:ext uri="{BB962C8B-B14F-4D97-AF65-F5344CB8AC3E}">
        <p14:creationId xmlns:p14="http://schemas.microsoft.com/office/powerpoint/2010/main" val="3097881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9B56F-CE91-689B-D969-3B9BEF8756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D41CBF-5171-F58F-E6DC-193491D4D0C2}"/>
              </a:ext>
            </a:extLst>
          </p:cNvPr>
          <p:cNvSpPr>
            <a:spLocks noGrp="1"/>
          </p:cNvSpPr>
          <p:nvPr>
            <p:ph type="title"/>
          </p:nvPr>
        </p:nvSpPr>
        <p:spPr>
          <a:xfrm>
            <a:off x="0" y="622168"/>
            <a:ext cx="12192000" cy="659877"/>
          </a:xfrm>
        </p:spPr>
        <p:txBody>
          <a:bodyPr>
            <a:noAutofit/>
          </a:bodyPr>
          <a:lstStyle/>
          <a:p>
            <a:pPr algn="ctr"/>
            <a:r>
              <a:rPr lang="en-US" sz="4000" b="1" dirty="0">
                <a:latin typeface="Times New Roman" pitchFamily="18" charset="0"/>
                <a:cs typeface="Times New Roman" pitchFamily="18" charset="0"/>
              </a:rPr>
              <a:t>Average </a:t>
            </a:r>
            <a:r>
              <a:rPr lang="en-US" sz="3600" b="1" dirty="0">
                <a:latin typeface="Times New Roman" pitchFamily="18" charset="0"/>
                <a:cs typeface="Times New Roman" pitchFamily="18" charset="0"/>
              </a:rPr>
              <a:t>Price</a:t>
            </a:r>
            <a:r>
              <a:rPr lang="en-US" sz="4000" b="1" dirty="0">
                <a:latin typeface="Times New Roman" pitchFamily="18" charset="0"/>
                <a:cs typeface="Times New Roman" pitchFamily="18" charset="0"/>
              </a:rPr>
              <a:t> Across Rating Categories &amp; Suction Bins</a:t>
            </a:r>
            <a:r>
              <a:rPr lang="en-IN" sz="4000" b="1" dirty="0">
                <a:solidFill>
                  <a:schemeClr val="tx1"/>
                </a:solidFill>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id="{BE87AF65-3901-0BB9-4EB3-70E37ADAA8A0}"/>
              </a:ext>
            </a:extLst>
          </p:cNvPr>
          <p:cNvSpPr txBox="1"/>
          <p:nvPr/>
        </p:nvSpPr>
        <p:spPr>
          <a:xfrm>
            <a:off x="982759" y="1633557"/>
            <a:ext cx="6084085" cy="4093428"/>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itchFamily="18" charset="0"/>
                <a:cs typeface="Times New Roman" pitchFamily="18" charset="0"/>
              </a:rPr>
              <a:t>Chimneys in higher suction ranges cost more.</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“Good” and “Excellent” rated chimneys mostly in 1000–2000 CMH.</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dirty="0">
                <a:latin typeface="Times New Roman" pitchFamily="18" charset="0"/>
                <a:cs typeface="Times New Roman" pitchFamily="18" charset="0"/>
              </a:rPr>
              <a:t>Lower suction models correspond with lower prices and ratings</a:t>
            </a:r>
            <a:r>
              <a:rPr lang="en-US" sz="2000" dirty="0"/>
              <a:t>.</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r>
              <a:rPr lang="en-US" sz="2000" b="1" dirty="0">
                <a:latin typeface="Times New Roman" pitchFamily="18" charset="0"/>
                <a:cs typeface="Times New Roman" pitchFamily="18" charset="0"/>
              </a:rPr>
              <a:t>Overall Summary:</a:t>
            </a:r>
            <a:r>
              <a:rPr lang="en-US" sz="2000" dirty="0"/>
              <a:t/>
            </a:r>
            <a:br>
              <a:rPr lang="en-US" sz="2000" dirty="0"/>
            </a:br>
            <a:r>
              <a:rPr lang="en-US" sz="2000" dirty="0">
                <a:latin typeface="Times New Roman" pitchFamily="18" charset="0"/>
                <a:cs typeface="Times New Roman" pitchFamily="18" charset="0"/>
              </a:rPr>
              <a:t>Higher suction capacity correlates with premium pricing and better customer satisfaction.</a:t>
            </a:r>
          </a:p>
          <a:p>
            <a:pPr marL="342900" indent="-342900">
              <a:buFont typeface="Arial" panose="020B0604020202020204" pitchFamily="34" charset="0"/>
              <a:buChar char="•"/>
            </a:pPr>
            <a:endParaRPr lang="en-IN" sz="2000" dirty="0">
              <a:latin typeface="Times New Roman" pitchFamily="18" charset="0"/>
              <a:cs typeface="Times New Roman" pitchFamily="18" charset="0"/>
            </a:endParaRPr>
          </a:p>
          <a:p>
            <a:pPr marL="342900" indent="-342900">
              <a:buFont typeface="Arial" panose="020B0604020202020204" pitchFamily="34" charset="0"/>
              <a:buChar char="•"/>
            </a:pPr>
            <a:endParaRPr lang="en-US" sz="2000" dirty="0">
              <a:latin typeface="Times New Roman" pitchFamily="18" charset="0"/>
              <a:cs typeface="Times New Roman" pitchFamily="18" charset="0"/>
            </a:endParaRPr>
          </a:p>
        </p:txBody>
      </p:sp>
      <p:pic>
        <p:nvPicPr>
          <p:cNvPr id="3" name="Picture 2"/>
          <p:cNvPicPr>
            <a:picLocks noChangeAspect="1"/>
          </p:cNvPicPr>
          <p:nvPr/>
        </p:nvPicPr>
        <p:blipFill>
          <a:blip r:embed="rId2"/>
          <a:stretch>
            <a:fillRect/>
          </a:stretch>
        </p:blipFill>
        <p:spPr>
          <a:xfrm>
            <a:off x="7066844" y="1141350"/>
            <a:ext cx="4989689" cy="4585635"/>
          </a:xfrm>
          <a:prstGeom prst="rect">
            <a:avLst/>
          </a:prstGeom>
        </p:spPr>
      </p:pic>
    </p:spTree>
    <p:extLst>
      <p:ext uri="{BB962C8B-B14F-4D97-AF65-F5344CB8AC3E}">
        <p14:creationId xmlns:p14="http://schemas.microsoft.com/office/powerpoint/2010/main" val="2282512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CA0CE-8274-A1F5-3A9F-98D9815227EB}"/>
              </a:ext>
            </a:extLst>
          </p:cNvPr>
          <p:cNvSpPr>
            <a:spLocks noGrp="1"/>
          </p:cNvSpPr>
          <p:nvPr>
            <p:ph type="ctrTitle"/>
          </p:nvPr>
        </p:nvSpPr>
        <p:spPr>
          <a:xfrm>
            <a:off x="-750725" y="204082"/>
            <a:ext cx="9498799" cy="894695"/>
          </a:xfrm>
        </p:spPr>
        <p:txBody>
          <a:bodyPr>
            <a:normAutofit/>
          </a:bodyPr>
          <a:lstStyle/>
          <a:p>
            <a:r>
              <a:rPr lang="en-US" sz="4000" b="1" dirty="0">
                <a:latin typeface="Times New Roman" pitchFamily="18" charset="0"/>
                <a:cs typeface="Times New Roman" pitchFamily="18" charset="0"/>
              </a:rPr>
              <a:t>Key Findings &amp; Business Insights</a:t>
            </a:r>
            <a:endParaRPr lang="en-IN" sz="4000" b="1" dirty="0">
              <a:latin typeface="Times New Roman" pitchFamily="18" charset="0"/>
              <a:cs typeface="Times New Roman" pitchFamily="18" charset="0"/>
            </a:endParaRPr>
          </a:p>
        </p:txBody>
      </p:sp>
      <p:sp>
        <p:nvSpPr>
          <p:cNvPr id="3" name="Subtitle 2">
            <a:extLst>
              <a:ext uri="{FF2B5EF4-FFF2-40B4-BE49-F238E27FC236}">
                <a16:creationId xmlns:a16="http://schemas.microsoft.com/office/drawing/2014/main" id="{B3930632-BBBE-7E42-5C8B-2887796D6FC6}"/>
              </a:ext>
            </a:extLst>
          </p:cNvPr>
          <p:cNvSpPr>
            <a:spLocks noGrp="1"/>
          </p:cNvSpPr>
          <p:nvPr>
            <p:ph type="subTitle" idx="1"/>
          </p:nvPr>
        </p:nvSpPr>
        <p:spPr>
          <a:xfrm>
            <a:off x="774640" y="1273451"/>
            <a:ext cx="10754341" cy="5089642"/>
          </a:xfrm>
        </p:spPr>
        <p:txBody>
          <a:bodyPr>
            <a:normAutofit lnSpcReduction="10000"/>
          </a:bodyPr>
          <a:lstStyle/>
          <a:p>
            <a:pPr algn="l">
              <a:lnSpc>
                <a:spcPct val="150000"/>
              </a:lnSpc>
              <a:buFont typeface="Arial" panose="020B0604020202020204" pitchFamily="34" charset="0"/>
              <a:buChar char="•"/>
            </a:pPr>
            <a:r>
              <a:rPr lang="en-US" sz="2000" dirty="0">
                <a:latin typeface="Times New Roman" pitchFamily="18" charset="0"/>
                <a:cs typeface="Times New Roman" pitchFamily="18" charset="0"/>
              </a:rPr>
              <a:t>The chimney market is dominated by affordable, mid-range products.</a:t>
            </a:r>
          </a:p>
          <a:p>
            <a:pPr algn="l">
              <a:lnSpc>
                <a:spcPct val="150000"/>
              </a:lnSpc>
              <a:buFont typeface="Arial" panose="020B0604020202020204" pitchFamily="34" charset="0"/>
              <a:buChar char="•"/>
            </a:pPr>
            <a:r>
              <a:rPr lang="en-US" sz="2000" dirty="0">
                <a:latin typeface="Times New Roman" pitchFamily="18" charset="0"/>
                <a:cs typeface="Times New Roman" pitchFamily="18" charset="0"/>
              </a:rPr>
              <a:t>60 cm models are most popular; 90 cm for larger kitchens.</a:t>
            </a:r>
          </a:p>
          <a:p>
            <a:pPr algn="l">
              <a:lnSpc>
                <a:spcPct val="150000"/>
              </a:lnSpc>
              <a:buFont typeface="Arial" panose="020B0604020202020204" pitchFamily="34" charset="0"/>
              <a:buChar char="•"/>
            </a:pPr>
            <a:r>
              <a:rPr lang="en-US" sz="2000" dirty="0">
                <a:latin typeface="Times New Roman" pitchFamily="18" charset="0"/>
                <a:cs typeface="Times New Roman" pitchFamily="18" charset="0"/>
              </a:rPr>
              <a:t>Ratings (4★ </a:t>
            </a:r>
            <a:r>
              <a:rPr lang="en-US" sz="2000" dirty="0" err="1">
                <a:latin typeface="Times New Roman" pitchFamily="18" charset="0"/>
                <a:cs typeface="Times New Roman" pitchFamily="18" charset="0"/>
              </a:rPr>
              <a:t>avg</a:t>
            </a:r>
            <a:r>
              <a:rPr lang="en-US" sz="2000" dirty="0">
                <a:latin typeface="Times New Roman" pitchFamily="18" charset="0"/>
                <a:cs typeface="Times New Roman" pitchFamily="18" charset="0"/>
              </a:rPr>
              <a:t>) show high customer satisfaction overall.</a:t>
            </a:r>
          </a:p>
          <a:p>
            <a:pPr algn="l">
              <a:lnSpc>
                <a:spcPct val="150000"/>
              </a:lnSpc>
              <a:buFont typeface="Arial" panose="020B0604020202020204" pitchFamily="34" charset="0"/>
              <a:buChar char="•"/>
            </a:pPr>
            <a:r>
              <a:rPr lang="en-US" sz="2000" dirty="0">
                <a:latin typeface="Times New Roman" pitchFamily="18" charset="0"/>
                <a:cs typeface="Times New Roman" pitchFamily="18" charset="0"/>
              </a:rPr>
              <a:t>Discounts (50–70%) are a key marketing strategy.</a:t>
            </a:r>
          </a:p>
          <a:p>
            <a:pPr algn="l">
              <a:lnSpc>
                <a:spcPct val="150000"/>
              </a:lnSpc>
              <a:buFont typeface="Arial" panose="020B0604020202020204" pitchFamily="34" charset="0"/>
              <a:buChar char="•"/>
            </a:pPr>
            <a:r>
              <a:rPr lang="en-US" sz="2000" dirty="0">
                <a:latin typeface="Times New Roman" pitchFamily="18" charset="0"/>
                <a:cs typeface="Times New Roman" pitchFamily="18" charset="0"/>
              </a:rPr>
              <a:t>Suction capacity (1200–1500 CMH) gives the best value.</a:t>
            </a:r>
          </a:p>
          <a:p>
            <a:pPr algn="l">
              <a:lnSpc>
                <a:spcPct val="150000"/>
              </a:lnSpc>
              <a:buFont typeface="Arial" panose="020B0604020202020204" pitchFamily="34" charset="0"/>
              <a:buChar char="•"/>
            </a:pPr>
            <a:r>
              <a:rPr lang="en-US" sz="2000" dirty="0">
                <a:latin typeface="Times New Roman" pitchFamily="18" charset="0"/>
                <a:cs typeface="Times New Roman" pitchFamily="18" charset="0"/>
              </a:rPr>
              <a:t>Brand reputation outweighs technical specifications in customer ratings.</a:t>
            </a:r>
          </a:p>
          <a:p>
            <a:pPr algn="l">
              <a:lnSpc>
                <a:spcPct val="150000"/>
              </a:lnSpc>
              <a:buFont typeface="Arial" panose="020B0604020202020204" pitchFamily="34" charset="0"/>
              <a:buChar char="•"/>
            </a:pPr>
            <a:r>
              <a:rPr lang="en-US" sz="2000" b="1" dirty="0">
                <a:latin typeface="Times New Roman" pitchFamily="18" charset="0"/>
                <a:cs typeface="Times New Roman" pitchFamily="18" charset="0"/>
              </a:rPr>
              <a:t>Overall Summary:</a:t>
            </a:r>
            <a:r>
              <a:rPr lang="en-US" sz="2000" dirty="0"/>
              <a:t/>
            </a:r>
            <a:br>
              <a:rPr lang="en-US" sz="2000" dirty="0"/>
            </a:br>
            <a:r>
              <a:rPr lang="en-US" sz="2000" dirty="0">
                <a:latin typeface="Times New Roman" pitchFamily="18" charset="0"/>
                <a:cs typeface="Times New Roman" pitchFamily="18" charset="0"/>
              </a:rPr>
              <a:t>Overall, the chimney market thrives on mid-range, high-value products where affordability, brand trust, and balanced performance drive customer satisfaction.</a:t>
            </a:r>
          </a:p>
        </p:txBody>
      </p:sp>
    </p:spTree>
    <p:extLst>
      <p:ext uri="{BB962C8B-B14F-4D97-AF65-F5344CB8AC3E}">
        <p14:creationId xmlns:p14="http://schemas.microsoft.com/office/powerpoint/2010/main" val="22094484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B9DEF-89CA-A2D6-D3EC-477F8E778C84}"/>
              </a:ext>
            </a:extLst>
          </p:cNvPr>
          <p:cNvSpPr>
            <a:spLocks noGrp="1"/>
          </p:cNvSpPr>
          <p:nvPr>
            <p:ph type="title"/>
          </p:nvPr>
        </p:nvSpPr>
        <p:spPr>
          <a:xfrm>
            <a:off x="254000" y="193675"/>
            <a:ext cx="2794000" cy="904875"/>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Conclusion:</a:t>
            </a:r>
          </a:p>
        </p:txBody>
      </p:sp>
      <p:sp>
        <p:nvSpPr>
          <p:cNvPr id="4" name="Rectangle 1">
            <a:extLst>
              <a:ext uri="{FF2B5EF4-FFF2-40B4-BE49-F238E27FC236}">
                <a16:creationId xmlns:a16="http://schemas.microsoft.com/office/drawing/2014/main" id="{B3B7422F-A42C-D0BC-BCC8-74FDAE65E36E}"/>
              </a:ext>
            </a:extLst>
          </p:cNvPr>
          <p:cNvSpPr>
            <a:spLocks noChangeArrowheads="1"/>
          </p:cNvSpPr>
          <p:nvPr/>
        </p:nvSpPr>
        <p:spPr bwMode="auto">
          <a:xfrm>
            <a:off x="545156" y="1098550"/>
            <a:ext cx="10816526" cy="5588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AutoNum type="arabicPeriod"/>
            </a:pPr>
            <a:r>
              <a:rPr lang="en-IN" sz="1600" b="1" dirty="0">
                <a:latin typeface="Times New Roman" panose="02020603050405020304" pitchFamily="18" charset="0"/>
                <a:cs typeface="Times New Roman" panose="02020603050405020304" pitchFamily="18" charset="0"/>
              </a:rPr>
              <a:t>Insights on Market Trends</a:t>
            </a:r>
            <a:r>
              <a:rPr lang="en-US" sz="1600" b="1" dirty="0">
                <a:latin typeface="Times New Roman" panose="02020603050405020304" pitchFamily="18" charset="0"/>
                <a:cs typeface="Times New Roman" panose="02020603050405020304" pitchFamily="18" charset="0"/>
              </a:rPr>
              <a:t/>
            </a:r>
            <a:br>
              <a:rPr lang="en-US" sz="1600" b="1" dirty="0">
                <a:latin typeface="Times New Roman" panose="02020603050405020304" pitchFamily="18" charset="0"/>
                <a:cs typeface="Times New Roman" panose="02020603050405020304" pitchFamily="18" charset="0"/>
              </a:rPr>
            </a:br>
            <a:r>
              <a:rPr lang="en-GB" sz="1600" dirty="0">
                <a:latin typeface="Times New Roman" panose="02020603050405020304" pitchFamily="18" charset="0"/>
                <a:cs typeface="Times New Roman" panose="02020603050405020304" pitchFamily="18" charset="0"/>
              </a:rPr>
              <a:t>The analysis revealed that most chimneys listed on Flipkart are mid-range products priced between ₹7,000–₹15,000, indicating strong customer preference for affordable and value-based appliances.</a:t>
            </a:r>
          </a:p>
          <a:p>
            <a:endParaRPr lang="en-GB"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2.  Customer Satisfaction and Ratings</a:t>
            </a:r>
          </a:p>
          <a:p>
            <a:r>
              <a:rPr lang="en-GB" sz="1600" b="1"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Average customer ratings were around 4.0, showing overall positive satisfaction levels. Premium brands like </a:t>
            </a:r>
            <a:r>
              <a:rPr lang="en-GB" sz="1600" b="1" dirty="0" err="1">
                <a:latin typeface="Times New Roman" panose="02020603050405020304" pitchFamily="18" charset="0"/>
                <a:cs typeface="Times New Roman" panose="02020603050405020304" pitchFamily="18" charset="0"/>
              </a:rPr>
              <a:t>Elica</a:t>
            </a:r>
            <a:r>
              <a:rPr lang="en-GB" sz="1600" dirty="0">
                <a:latin typeface="Times New Roman" panose="02020603050405020304" pitchFamily="18" charset="0"/>
                <a:cs typeface="Times New Roman" panose="02020603050405020304" pitchFamily="18" charset="0"/>
              </a:rPr>
              <a:t>                 and </a:t>
            </a:r>
            <a:r>
              <a:rPr lang="en-GB" sz="1600" b="1" dirty="0">
                <a:latin typeface="Times New Roman" panose="02020603050405020304" pitchFamily="18" charset="0"/>
                <a:cs typeface="Times New Roman" panose="02020603050405020304" pitchFamily="18" charset="0"/>
              </a:rPr>
              <a:t>Faber</a:t>
            </a:r>
            <a:r>
              <a:rPr lang="en-GB" sz="1600" dirty="0">
                <a:latin typeface="Times New Roman" panose="02020603050405020304" pitchFamily="18" charset="0"/>
                <a:cs typeface="Times New Roman" panose="02020603050405020304" pitchFamily="18" charset="0"/>
              </a:rPr>
              <a:t> maintained consistent ratings across different models</a:t>
            </a:r>
          </a:p>
          <a:p>
            <a:endParaRPr lang="en-GB" sz="1600" dirty="0">
              <a:latin typeface="Times New Roman" panose="02020603050405020304" pitchFamily="18" charset="0"/>
              <a:cs typeface="Times New Roman" panose="02020603050405020304" pitchFamily="18" charset="0"/>
            </a:endParaRPr>
          </a:p>
          <a:p>
            <a:r>
              <a:rPr lang="en-GB" sz="1600" b="1" dirty="0">
                <a:latin typeface="Times New Roman" panose="02020603050405020304" pitchFamily="18" charset="0"/>
                <a:cs typeface="Times New Roman" panose="02020603050405020304" pitchFamily="18" charset="0"/>
              </a:rPr>
              <a:t>3.</a:t>
            </a:r>
            <a:r>
              <a:rPr lang="en-IN" sz="1600" b="1" dirty="0">
                <a:latin typeface="Times New Roman" panose="02020603050405020304" pitchFamily="18" charset="0"/>
                <a:cs typeface="Times New Roman" panose="02020603050405020304" pitchFamily="18" charset="0"/>
              </a:rPr>
              <a:t> Brand and Product Insights</a:t>
            </a:r>
          </a:p>
          <a:p>
            <a:r>
              <a:rPr lang="en-GB" sz="1600" b="1"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Brands such as </a:t>
            </a:r>
            <a:r>
              <a:rPr lang="en-GB" sz="1600" b="1" dirty="0">
                <a:latin typeface="Times New Roman" panose="02020603050405020304" pitchFamily="18" charset="0"/>
                <a:cs typeface="Times New Roman" panose="02020603050405020304" pitchFamily="18" charset="0"/>
              </a:rPr>
              <a:t>Faber</a:t>
            </a:r>
            <a:r>
              <a:rPr lang="en-GB" sz="1600" dirty="0">
                <a:latin typeface="Times New Roman" panose="02020603050405020304" pitchFamily="18" charset="0"/>
                <a:cs typeface="Times New Roman" panose="02020603050405020304" pitchFamily="18" charset="0"/>
              </a:rPr>
              <a:t>, </a:t>
            </a:r>
            <a:r>
              <a:rPr lang="en-GB" sz="1600" b="1" dirty="0" err="1">
                <a:latin typeface="Times New Roman" panose="02020603050405020304" pitchFamily="18" charset="0"/>
                <a:cs typeface="Times New Roman" panose="02020603050405020304" pitchFamily="18" charset="0"/>
              </a:rPr>
              <a:t>Hindware</a:t>
            </a:r>
            <a:r>
              <a:rPr lang="en-GB" sz="1600" dirty="0">
                <a:latin typeface="Times New Roman" panose="02020603050405020304" pitchFamily="18" charset="0"/>
                <a:cs typeface="Times New Roman" panose="02020603050405020304" pitchFamily="18" charset="0"/>
              </a:rPr>
              <a:t>, and </a:t>
            </a:r>
            <a:r>
              <a:rPr lang="en-GB" sz="1600" b="1" dirty="0" err="1">
                <a:latin typeface="Times New Roman" panose="02020603050405020304" pitchFamily="18" charset="0"/>
                <a:cs typeface="Times New Roman" panose="02020603050405020304" pitchFamily="18" charset="0"/>
              </a:rPr>
              <a:t>Amplesta</a:t>
            </a:r>
            <a:r>
              <a:rPr lang="en-GB" sz="1600" dirty="0">
                <a:latin typeface="Times New Roman" panose="02020603050405020304" pitchFamily="18" charset="0"/>
                <a:cs typeface="Times New Roman" panose="02020603050405020304" pitchFamily="18" charset="0"/>
              </a:rPr>
              <a:t> dominated the listings, while smaller brands like </a:t>
            </a:r>
            <a:r>
              <a:rPr lang="en-GB" sz="1600" b="1" dirty="0" err="1">
                <a:latin typeface="Times New Roman" panose="02020603050405020304" pitchFamily="18" charset="0"/>
                <a:cs typeface="Times New Roman" panose="02020603050405020304" pitchFamily="18" charset="0"/>
              </a:rPr>
              <a:t>Omniya</a:t>
            </a:r>
            <a:r>
              <a:rPr lang="en-GB" sz="1600" dirty="0">
                <a:latin typeface="Times New Roman" panose="02020603050405020304" pitchFamily="18" charset="0"/>
                <a:cs typeface="Times New Roman" panose="02020603050405020304" pitchFamily="18" charset="0"/>
              </a:rPr>
              <a:t> and    </a:t>
            </a:r>
            <a:r>
              <a:rPr lang="en-GB" sz="1600" b="1" dirty="0" err="1">
                <a:latin typeface="Times New Roman" panose="02020603050405020304" pitchFamily="18" charset="0"/>
                <a:cs typeface="Times New Roman" panose="02020603050405020304" pitchFamily="18" charset="0"/>
              </a:rPr>
              <a:t>Greenchef</a:t>
            </a:r>
            <a:r>
              <a:rPr lang="en-GB" sz="1600" dirty="0">
                <a:latin typeface="Times New Roman" panose="02020603050405020304" pitchFamily="18" charset="0"/>
                <a:cs typeface="Times New Roman" panose="02020603050405020304" pitchFamily="18" charset="0"/>
              </a:rPr>
              <a:t> received higher customer ratings, proving that quality isn’t limited to brand popularity.</a:t>
            </a:r>
          </a:p>
          <a:p>
            <a:endParaRPr lang="en-GB" sz="1600" b="1" dirty="0">
              <a:latin typeface="Times New Roman" panose="02020603050405020304" pitchFamily="18" charset="0"/>
              <a:cs typeface="Times New Roman" panose="02020603050405020304" pitchFamily="18" charset="0"/>
            </a:endParaRPr>
          </a:p>
          <a:p>
            <a:r>
              <a:rPr lang="en-GB" sz="1600" b="1" dirty="0">
                <a:latin typeface="Times New Roman" panose="02020603050405020304" pitchFamily="18" charset="0"/>
                <a:cs typeface="Times New Roman" panose="02020603050405020304" pitchFamily="18" charset="0"/>
              </a:rPr>
              <a:t>4.</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Key Patterns and Correlations</a:t>
            </a:r>
          </a:p>
          <a:p>
            <a:r>
              <a:rPr lang="en-GB" sz="1600" b="1" dirty="0">
                <a:latin typeface="Times New Roman" panose="02020603050405020304" pitchFamily="18" charset="0"/>
                <a:cs typeface="Times New Roman" panose="02020603050405020304" pitchFamily="18" charset="0"/>
              </a:rPr>
              <a:t> </a:t>
            </a:r>
            <a:r>
              <a:rPr lang="en-GB" sz="1600" dirty="0">
                <a:latin typeface="Times New Roman" panose="02020603050405020304" pitchFamily="18" charset="0"/>
                <a:cs typeface="Times New Roman" panose="02020603050405020304" pitchFamily="18" charset="0"/>
              </a:rPr>
              <a:t>No strong correlation was found between price and rating, implying that expensive products don’t always guarantee better performance or satisfaction. Mid-range chimneys with 1200–1500 CMH suction capacity were found to be most preferred.</a:t>
            </a:r>
          </a:p>
          <a:p>
            <a:endParaRPr lang="en-GB" sz="1600"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5.</a:t>
            </a:r>
            <a:r>
              <a:rPr lang="en-GB"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Overall Conclusion</a:t>
            </a:r>
            <a:endParaRPr lang="en-GB" sz="1600" b="1" dirty="0">
              <a:latin typeface="Times New Roman" panose="02020603050405020304" pitchFamily="18" charset="0"/>
              <a:cs typeface="Times New Roman" panose="02020603050405020304" pitchFamily="18" charset="0"/>
            </a:endParaRPr>
          </a:p>
          <a:p>
            <a:r>
              <a:rPr lang="en-GB" sz="1600" dirty="0">
                <a:latin typeface="Times New Roman" panose="02020603050405020304" pitchFamily="18" charset="0"/>
                <a:cs typeface="Times New Roman" panose="02020603050405020304" pitchFamily="18" charset="0"/>
              </a:rPr>
              <a:t>  Through effective web scraping and Exploratory Data Analysis, valuable business insights were derived that can help brands optimize pricing strategies, improve product quality, and enhance customer satisfaction in the online chimney market.</a:t>
            </a:r>
            <a:endParaRPr lang="en-US" sz="1600" b="1"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46870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C5FDD-9E40-B93A-E557-1D0E9B6DA08A}"/>
              </a:ext>
            </a:extLst>
          </p:cNvPr>
          <p:cNvSpPr>
            <a:spLocks noGrp="1"/>
          </p:cNvSpPr>
          <p:nvPr>
            <p:ph type="title"/>
          </p:nvPr>
        </p:nvSpPr>
        <p:spPr>
          <a:xfrm>
            <a:off x="283660" y="247138"/>
            <a:ext cx="10515600" cy="1325563"/>
          </a:xfrm>
        </p:spPr>
        <p:txBody>
          <a:bodyPr/>
          <a:lstStyle/>
          <a:p>
            <a:r>
              <a:rPr lang="en-US" dirty="0">
                <a:latin typeface="Times New Roman" panose="02020603050405020304" pitchFamily="18" charset="0"/>
                <a:cs typeface="Times New Roman" panose="02020603050405020304" pitchFamily="18" charset="0"/>
              </a:rPr>
              <a:t>Experience– Web Scraping &amp; Data Analysis:</a:t>
            </a:r>
            <a:endParaRPr lang="en-IN"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385608D9-1735-0142-AAF8-1110DAFC9C6E}"/>
              </a:ext>
            </a:extLst>
          </p:cNvPr>
          <p:cNvSpPr>
            <a:spLocks noGrp="1" noChangeArrowheads="1"/>
          </p:cNvSpPr>
          <p:nvPr>
            <p:ph type="body" idx="1"/>
          </p:nvPr>
        </p:nvSpPr>
        <p:spPr bwMode="auto">
          <a:xfrm>
            <a:off x="880534" y="1212417"/>
            <a:ext cx="9478734"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eaLnBrk="0" fontAlgn="base" hangingPunct="0">
              <a:lnSpc>
                <a:spcPct val="150000"/>
              </a:lnSpc>
              <a:spcBef>
                <a:spcPct val="0"/>
              </a:spcBef>
              <a:spcAft>
                <a:spcPct val="0"/>
              </a:spcAft>
              <a:buClrTx/>
              <a:buSzTx/>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Learned how to </a:t>
            </a:r>
            <a:r>
              <a:rPr lang="en-GB" sz="2000" b="1" dirty="0">
                <a:latin typeface="Times New Roman" panose="02020603050405020304" pitchFamily="18" charset="0"/>
                <a:cs typeface="Times New Roman" panose="02020603050405020304" pitchFamily="18" charset="0"/>
              </a:rPr>
              <a:t>clean, </a:t>
            </a:r>
            <a:r>
              <a:rPr lang="en-GB" sz="2000" b="1" dirty="0" err="1">
                <a:latin typeface="Times New Roman" panose="02020603050405020304" pitchFamily="18" charset="0"/>
                <a:cs typeface="Times New Roman" panose="02020603050405020304" pitchFamily="18" charset="0"/>
              </a:rPr>
              <a:t>preprocess</a:t>
            </a:r>
            <a:r>
              <a:rPr lang="en-GB" sz="2000" b="1" dirty="0">
                <a:latin typeface="Times New Roman" panose="02020603050405020304" pitchFamily="18" charset="0"/>
                <a:cs typeface="Times New Roman" panose="02020603050405020304" pitchFamily="18" charset="0"/>
              </a:rPr>
              <a:t>, and structure unorganized web data</a:t>
            </a:r>
            <a:r>
              <a:rPr lang="en-GB" sz="2000" dirty="0">
                <a:latin typeface="Times New Roman" panose="02020603050405020304" pitchFamily="18" charset="0"/>
                <a:cs typeface="Times New Roman" panose="02020603050405020304" pitchFamily="18" charset="0"/>
              </a:rPr>
              <a:t> into a usable CSV format for analysis.</a:t>
            </a:r>
          </a:p>
          <a:p>
            <a:pPr marL="342900" lvl="0" eaLnBrk="0" fontAlgn="base" hangingPunct="0">
              <a:lnSpc>
                <a:spcPct val="150000"/>
              </a:lnSpc>
              <a:spcBef>
                <a:spcPct val="0"/>
              </a:spcBef>
              <a:spcAft>
                <a:spcPct val="0"/>
              </a:spcAft>
              <a:buClrTx/>
              <a:buSzTx/>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Gained hands-on experience in </a:t>
            </a:r>
            <a:r>
              <a:rPr lang="en-GB" sz="2000" b="1" dirty="0">
                <a:latin typeface="Times New Roman" panose="02020603050405020304" pitchFamily="18" charset="0"/>
                <a:cs typeface="Times New Roman" panose="02020603050405020304" pitchFamily="18" charset="0"/>
              </a:rPr>
              <a:t>extracting real-world product data</a:t>
            </a:r>
            <a:r>
              <a:rPr lang="en-GB" sz="2000" dirty="0">
                <a:latin typeface="Times New Roman" panose="02020603050405020304" pitchFamily="18" charset="0"/>
                <a:cs typeface="Times New Roman" panose="02020603050405020304" pitchFamily="18" charset="0"/>
              </a:rPr>
              <a:t> from Flipkart using Python libraries such as </a:t>
            </a:r>
            <a:r>
              <a:rPr lang="en-GB" sz="2000" b="1" dirty="0" err="1">
                <a:latin typeface="Times New Roman" panose="02020603050405020304" pitchFamily="18" charset="0"/>
                <a:cs typeface="Times New Roman" panose="02020603050405020304" pitchFamily="18" charset="0"/>
              </a:rPr>
              <a:t>BeautifulSoup</a:t>
            </a:r>
            <a:r>
              <a:rPr lang="en-GB" sz="2000" dirty="0">
                <a:latin typeface="Times New Roman" panose="02020603050405020304" pitchFamily="18" charset="0"/>
                <a:cs typeface="Times New Roman" panose="02020603050405020304" pitchFamily="18" charset="0"/>
              </a:rPr>
              <a:t> and </a:t>
            </a:r>
            <a:r>
              <a:rPr lang="en-GB" sz="2000" b="1" dirty="0">
                <a:latin typeface="Times New Roman" panose="02020603050405020304" pitchFamily="18" charset="0"/>
                <a:cs typeface="Times New Roman" panose="02020603050405020304" pitchFamily="18" charset="0"/>
              </a:rPr>
              <a:t>Requests</a:t>
            </a:r>
            <a:r>
              <a:rPr lang="en-GB" sz="2000" dirty="0">
                <a:latin typeface="Times New Roman" panose="02020603050405020304" pitchFamily="18" charset="0"/>
                <a:cs typeface="Times New Roman" panose="02020603050405020304" pitchFamily="18" charset="0"/>
              </a:rPr>
              <a:t>.</a:t>
            </a:r>
          </a:p>
          <a:p>
            <a:pPr marL="342900" lvl="0" eaLnBrk="0" fontAlgn="base" hangingPunct="0">
              <a:lnSpc>
                <a:spcPct val="150000"/>
              </a:lnSpc>
              <a:spcBef>
                <a:spcPct val="0"/>
              </a:spcBef>
              <a:spcAft>
                <a:spcPct val="0"/>
              </a:spcAft>
              <a:buClrTx/>
              <a:buSzTx/>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Enhanced understanding of </a:t>
            </a:r>
            <a:r>
              <a:rPr lang="en-GB" sz="2000" b="1" dirty="0">
                <a:latin typeface="Times New Roman" panose="02020603050405020304" pitchFamily="18" charset="0"/>
                <a:cs typeface="Times New Roman" panose="02020603050405020304" pitchFamily="18" charset="0"/>
              </a:rPr>
              <a:t>Exploratory Data Analysis (EDA)</a:t>
            </a:r>
            <a:r>
              <a:rPr lang="en-GB" sz="2000" dirty="0">
                <a:latin typeface="Times New Roman" panose="02020603050405020304" pitchFamily="18" charset="0"/>
                <a:cs typeface="Times New Roman" panose="02020603050405020304" pitchFamily="18" charset="0"/>
              </a:rPr>
              <a:t> by applying univariate, bivariate, and multivariate visualizations using </a:t>
            </a:r>
            <a:r>
              <a:rPr lang="en-GB" sz="2000" b="1" dirty="0">
                <a:latin typeface="Times New Roman" panose="02020603050405020304" pitchFamily="18" charset="0"/>
                <a:cs typeface="Times New Roman" panose="02020603050405020304" pitchFamily="18" charset="0"/>
              </a:rPr>
              <a:t>Pandas, </a:t>
            </a:r>
            <a:r>
              <a:rPr lang="en-GB" sz="2000" b="1" dirty="0" err="1">
                <a:latin typeface="Times New Roman" panose="02020603050405020304" pitchFamily="18" charset="0"/>
                <a:cs typeface="Times New Roman" panose="02020603050405020304" pitchFamily="18" charset="0"/>
              </a:rPr>
              <a:t>Matplotlib</a:t>
            </a:r>
            <a:r>
              <a:rPr lang="en-GB" sz="2000" b="1" dirty="0">
                <a:latin typeface="Times New Roman" panose="02020603050405020304" pitchFamily="18" charset="0"/>
                <a:cs typeface="Times New Roman" panose="02020603050405020304" pitchFamily="18" charset="0"/>
              </a:rPr>
              <a:t>, and </a:t>
            </a:r>
            <a:r>
              <a:rPr lang="en-GB" sz="2000" b="1" dirty="0" err="1">
                <a:latin typeface="Times New Roman" panose="02020603050405020304" pitchFamily="18" charset="0"/>
                <a:cs typeface="Times New Roman" panose="02020603050405020304" pitchFamily="18" charset="0"/>
              </a:rPr>
              <a:t>Seaborn</a:t>
            </a:r>
            <a:r>
              <a:rPr lang="en-GB" sz="2000" dirty="0">
                <a:latin typeface="Times New Roman" panose="02020603050405020304" pitchFamily="18" charset="0"/>
                <a:cs typeface="Times New Roman" panose="02020603050405020304" pitchFamily="18" charset="0"/>
              </a:rPr>
              <a:t>.</a:t>
            </a:r>
          </a:p>
          <a:p>
            <a:pPr marL="342900" lvl="0" eaLnBrk="0" fontAlgn="base" hangingPunct="0">
              <a:lnSpc>
                <a:spcPct val="150000"/>
              </a:lnSpc>
              <a:spcBef>
                <a:spcPct val="0"/>
              </a:spcBef>
              <a:spcAft>
                <a:spcPct val="0"/>
              </a:spcAft>
              <a:buClrTx/>
              <a:buSzTx/>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Developed the ability to </a:t>
            </a:r>
            <a:r>
              <a:rPr lang="en-GB" sz="2000" b="1" dirty="0">
                <a:latin typeface="Times New Roman" panose="02020603050405020304" pitchFamily="18" charset="0"/>
                <a:cs typeface="Times New Roman" panose="02020603050405020304" pitchFamily="18" charset="0"/>
              </a:rPr>
              <a:t>interpret patterns and business insights</a:t>
            </a:r>
            <a:r>
              <a:rPr lang="en-GB" sz="2000" dirty="0">
                <a:latin typeface="Times New Roman" panose="02020603050405020304" pitchFamily="18" charset="0"/>
                <a:cs typeface="Times New Roman" panose="02020603050405020304" pitchFamily="18" charset="0"/>
              </a:rPr>
              <a:t>, such as identifying top-rated brands, pricing trends, and customer preferences.</a:t>
            </a:r>
          </a:p>
          <a:p>
            <a:pPr marL="342900" eaLnBrk="0" fontAlgn="base" hangingPunct="0">
              <a:lnSpc>
                <a:spcPct val="150000"/>
              </a:lnSpc>
              <a:spcBef>
                <a:spcPct val="0"/>
              </a:spcBef>
              <a:spcAft>
                <a:spcPct val="0"/>
              </a:spcAft>
              <a:buClrTx/>
              <a:buSzTx/>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Strengthened technical and analytical skills by converting raw scraped data into meaningful, decision-supporting insights.</a:t>
            </a:r>
          </a:p>
          <a:p>
            <a:pPr marL="342900"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04481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C4F17-B27D-5353-8B75-94E4DF00F875}"/>
              </a:ext>
            </a:extLst>
          </p:cNvPr>
          <p:cNvSpPr>
            <a:spLocks noGrp="1"/>
          </p:cNvSpPr>
          <p:nvPr>
            <p:ph type="title"/>
          </p:nvPr>
        </p:nvSpPr>
        <p:spPr>
          <a:xfrm>
            <a:off x="283661" y="406420"/>
            <a:ext cx="10515600" cy="1325563"/>
          </a:xfrm>
        </p:spPr>
        <p:txBody>
          <a:bodyPr/>
          <a:lstStyle/>
          <a:p>
            <a:r>
              <a:rPr lang="en-IN" dirty="0">
                <a:latin typeface="Times New Roman" panose="02020603050405020304" pitchFamily="18" charset="0"/>
                <a:cs typeface="Times New Roman" panose="02020603050405020304" pitchFamily="18" charset="0"/>
              </a:rPr>
              <a:t>Challenges – Web Scraping &amp; Data Analysis:</a:t>
            </a:r>
          </a:p>
        </p:txBody>
      </p:sp>
      <p:sp>
        <p:nvSpPr>
          <p:cNvPr id="4" name="Rectangle 1">
            <a:extLst>
              <a:ext uri="{FF2B5EF4-FFF2-40B4-BE49-F238E27FC236}">
                <a16:creationId xmlns:a16="http://schemas.microsoft.com/office/drawing/2014/main" id="{7FA88F87-09D6-310A-575A-399768B2BD26}"/>
              </a:ext>
            </a:extLst>
          </p:cNvPr>
          <p:cNvSpPr>
            <a:spLocks noGrp="1" noChangeArrowheads="1"/>
          </p:cNvSpPr>
          <p:nvPr>
            <p:ph type="body" idx="1"/>
          </p:nvPr>
        </p:nvSpPr>
        <p:spPr bwMode="auto">
          <a:xfrm>
            <a:off x="829242" y="1731983"/>
            <a:ext cx="9424437"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eaLnBrk="0" fontAlgn="base" hangingPunct="0">
              <a:lnSpc>
                <a:spcPct val="150000"/>
              </a:lnSpc>
              <a:spcBef>
                <a:spcPct val="0"/>
              </a:spcBef>
              <a:spcAft>
                <a:spcPct val="0"/>
              </a:spcAft>
              <a:buClrTx/>
              <a:buSzTx/>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Encountered missing values and inconsistent data formats in fields like </a:t>
            </a:r>
            <a:r>
              <a:rPr lang="en-GB" sz="2000" i="1" dirty="0">
                <a:latin typeface="Times New Roman" panose="02020603050405020304" pitchFamily="18" charset="0"/>
                <a:cs typeface="Times New Roman" panose="02020603050405020304" pitchFamily="18" charset="0"/>
              </a:rPr>
              <a:t>ratings</a:t>
            </a:r>
            <a:r>
              <a:rPr lang="en-GB" sz="2000" dirty="0">
                <a:latin typeface="Times New Roman" panose="02020603050405020304" pitchFamily="18" charset="0"/>
                <a:cs typeface="Times New Roman" panose="02020603050405020304" pitchFamily="18" charset="0"/>
              </a:rPr>
              <a:t> and </a:t>
            </a:r>
            <a:r>
              <a:rPr lang="en-GB" sz="2000" i="1" dirty="0">
                <a:latin typeface="Times New Roman" panose="02020603050405020304" pitchFamily="18" charset="0"/>
                <a:cs typeface="Times New Roman" panose="02020603050405020304" pitchFamily="18" charset="0"/>
              </a:rPr>
              <a:t>review counts</a:t>
            </a:r>
            <a:r>
              <a:rPr lang="en-GB" sz="2000" dirty="0">
                <a:latin typeface="Times New Roman" panose="02020603050405020304" pitchFamily="18" charset="0"/>
                <a:cs typeface="Times New Roman" panose="02020603050405020304" pitchFamily="18" charset="0"/>
              </a:rPr>
              <a:t>, which needed cleaning and transformation.</a:t>
            </a:r>
          </a:p>
          <a:p>
            <a:pPr marL="342900" lvl="0" eaLnBrk="0" fontAlgn="base" hangingPunct="0">
              <a:lnSpc>
                <a:spcPct val="150000"/>
              </a:lnSpc>
              <a:spcBef>
                <a:spcPct val="0"/>
              </a:spcBef>
              <a:spcAft>
                <a:spcPct val="0"/>
              </a:spcAft>
              <a:buClrTx/>
              <a:buSzTx/>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Managed duplicate product entries and incomplete details while merging multiple scraped pages into one dataset.</a:t>
            </a:r>
          </a:p>
          <a:p>
            <a:pPr marL="342900" lvl="0" eaLnBrk="0" fontAlgn="base" hangingPunct="0">
              <a:lnSpc>
                <a:spcPct val="150000"/>
              </a:lnSpc>
              <a:spcBef>
                <a:spcPct val="0"/>
              </a:spcBef>
              <a:spcAft>
                <a:spcPct val="0"/>
              </a:spcAft>
              <a:buClrTx/>
              <a:buSzTx/>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Ensured accuracy and consistency during data cleaning — reducing dataset shape from (456, 8) to (451, 10) after removing invalid or redundant entries.</a:t>
            </a:r>
          </a:p>
          <a:p>
            <a:pPr marL="342900" lvl="0" eaLnBrk="0" fontAlgn="base" hangingPunct="0">
              <a:lnSpc>
                <a:spcPct val="150000"/>
              </a:lnSpc>
              <a:spcBef>
                <a:spcPct val="0"/>
              </a:spcBef>
              <a:spcAft>
                <a:spcPct val="0"/>
              </a:spcAft>
              <a:buClrTx/>
              <a:buSzTx/>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Overcame challenges in visualizing and interpreting trends, by applying different plots and statistical summaries to bring out clear, data-driven conclusions</a:t>
            </a:r>
          </a:p>
          <a:p>
            <a:pPr marL="342900" lvl="0" eaLnBrk="0" fontAlgn="base" hangingPunct="0">
              <a:lnSpc>
                <a:spcPct val="150000"/>
              </a:lnSpc>
              <a:spcBef>
                <a:spcPct val="0"/>
              </a:spcBef>
              <a:spcAft>
                <a:spcPct val="0"/>
              </a:spcAft>
              <a:buClrTx/>
              <a:buSzTx/>
              <a:buFont typeface="Arial" panose="020B0604020202020204" pitchFamily="34" charset="0"/>
              <a:buChar char="•"/>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97661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030013" y="81359"/>
            <a:ext cx="9837683" cy="5783414"/>
          </a:xfrm>
          <a:prstGeom prst="rect">
            <a:avLst/>
          </a:prstGeom>
        </p:spPr>
      </p:pic>
      <p:pic>
        <p:nvPicPr>
          <p:cNvPr id="3" name="Picture 2"/>
          <p:cNvPicPr>
            <a:picLocks noChangeAspect="1"/>
          </p:cNvPicPr>
          <p:nvPr/>
        </p:nvPicPr>
        <p:blipFill>
          <a:blip r:embed="rId4"/>
          <a:stretch>
            <a:fillRect/>
          </a:stretch>
        </p:blipFill>
        <p:spPr>
          <a:xfrm>
            <a:off x="4560906" y="4803729"/>
            <a:ext cx="3217333" cy="54300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1242</TotalTime>
  <Words>1485</Words>
  <Application>Microsoft Office PowerPoint</Application>
  <PresentationFormat>Widescreen</PresentationFormat>
  <Paragraphs>176</Paragraphs>
  <Slides>24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Times New Roman</vt:lpstr>
      <vt:lpstr>Arial</vt:lpstr>
      <vt:lpstr>Calibri</vt:lpstr>
      <vt:lpstr>Office Theme</vt:lpstr>
      <vt:lpstr>PowerPoint Presentation</vt:lpstr>
      <vt:lpstr>About Us:</vt:lpstr>
      <vt:lpstr>Introduction:</vt:lpstr>
      <vt:lpstr>Business Problem:</vt:lpstr>
      <vt:lpstr>Objectives:</vt:lpstr>
      <vt:lpstr>Web Scraping:</vt:lpstr>
      <vt:lpstr>Tools Used:</vt:lpstr>
      <vt:lpstr>Data Cleaning Steps:</vt:lpstr>
      <vt:lpstr>Removing Outliers using Log Transformation</vt:lpstr>
      <vt:lpstr>Price Distribution of Chimneys:</vt:lpstr>
      <vt:lpstr>Customer Rating Distribution :</vt:lpstr>
      <vt:lpstr>Review Count Distribution :</vt:lpstr>
      <vt:lpstr>Discount Offers on Chimneys :</vt:lpstr>
      <vt:lpstr>Popular Chimney Sizes :</vt:lpstr>
      <vt:lpstr>Price VS Rating :</vt:lpstr>
      <vt:lpstr>Brand Performance: Suction Capacity vs Rating :</vt:lpstr>
      <vt:lpstr>Offer Percentage VS Price :</vt:lpstr>
      <vt:lpstr>3D Analysis: Price, Rating &amp; Suction Capacity :</vt:lpstr>
      <vt:lpstr>Average Price Across Rating Categories &amp; Suction Bins:</vt:lpstr>
      <vt:lpstr>Key Findings &amp; Business Insights</vt:lpstr>
      <vt:lpstr>Conclusion:</vt:lpstr>
      <vt:lpstr>Experience– Web Scraping &amp; Data Analysis:</vt:lpstr>
      <vt:lpstr>Challenges – Web Scraping &amp; Data Analysis: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User</cp:lastModifiedBy>
  <cp:revision>79</cp:revision>
  <dcterms:created xsi:type="dcterms:W3CDTF">2021-02-16T05:19:01Z</dcterms:created>
  <dcterms:modified xsi:type="dcterms:W3CDTF">2025-11-07T07:02:00Z</dcterms:modified>
</cp:coreProperties>
</file>