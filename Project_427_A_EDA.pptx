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0" r:id="rId3"/>
    <p:sldId id="261" r:id="rId4"/>
    <p:sldId id="281" r:id="rId5"/>
    <p:sldId id="263" r:id="rId6"/>
    <p:sldId id="265" r:id="rId7"/>
    <p:sldId id="264" r:id="rId8"/>
    <p:sldId id="266" r:id="rId9"/>
    <p:sldId id="299" r:id="rId10"/>
    <p:sldId id="282" r:id="rId11"/>
    <p:sldId id="283" r:id="rId12"/>
    <p:sldId id="285" r:id="rId13"/>
    <p:sldId id="286" r:id="rId14"/>
    <p:sldId id="287" r:id="rId15"/>
    <p:sldId id="288" r:id="rId16"/>
    <p:sldId id="289" r:id="rId17"/>
    <p:sldId id="290" r:id="rId18"/>
    <p:sldId id="291" r:id="rId19"/>
    <p:sldId id="293" r:id="rId20"/>
    <p:sldId id="295" r:id="rId21"/>
    <p:sldId id="276" r:id="rId22"/>
    <p:sldId id="297" r:id="rId23"/>
    <p:sldId id="298" r:id="rId24"/>
    <p:sldId id="259" r:id="rId25"/>
  </p:sldIdLst>
  <p:sldSz cx="12192000" cy="6858000"/>
  <p:notesSz cx="6858000" cy="9144000"/>
  <p:embeddedFontLst>
    <p:embeddedFont>
      <p:font typeface="Calibri"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5455" autoAdjust="0"/>
  </p:normalViewPr>
  <p:slideViewPr>
    <p:cSldViewPr snapToGrid="0">
      <p:cViewPr varScale="1">
        <p:scale>
          <a:sx n="83" d="100"/>
          <a:sy n="83" d="100"/>
        </p:scale>
        <p:origin x="-518" y="-42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viswas25/EDA-Project" TargetMode="External"/><Relationship Id="rId2" Type="http://schemas.openxmlformats.org/officeDocument/2006/relationships/hyperlink" Target="https://www.linkedin.com/in/viswas-atyam-100193253/"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684617"/>
            <a:ext cx="12192000" cy="6814484"/>
          </a:xfrm>
          <a:prstGeom prst="rect">
            <a:avLst/>
          </a:prstGeom>
          <a:noFill/>
          <a:ln>
            <a:noFill/>
          </a:ln>
        </p:spPr>
      </p:pic>
      <p:sp>
        <p:nvSpPr>
          <p:cNvPr id="4" name="TextBox 3">
            <a:extLst>
              <a:ext uri="{FF2B5EF4-FFF2-40B4-BE49-F238E27FC236}">
                <a16:creationId xmlns:a16="http://schemas.microsoft.com/office/drawing/2014/main" xmlns="" id="{EBCC5244-CD1C-B957-E40D-E5D18679EF2B}"/>
              </a:ext>
            </a:extLst>
          </p:cNvPr>
          <p:cNvSpPr txBox="1"/>
          <p:nvPr/>
        </p:nvSpPr>
        <p:spPr>
          <a:xfrm>
            <a:off x="1104644" y="4860435"/>
            <a:ext cx="9291286" cy="1200329"/>
          </a:xfrm>
          <a:prstGeom prst="rect">
            <a:avLst/>
          </a:prstGeom>
          <a:noFill/>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              Title: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Web Scraping and Exploratory Data Analysis of Chimneys  </a:t>
            </a:r>
          </a:p>
        </p:txBody>
      </p:sp>
      <p:pic>
        <p:nvPicPr>
          <p:cNvPr id="3" name="Picture 2"/>
          <p:cNvPicPr>
            <a:picLocks noChangeAspect="1"/>
          </p:cNvPicPr>
          <p:nvPr/>
        </p:nvPicPr>
        <p:blipFill>
          <a:blip r:embed="rId4"/>
          <a:stretch>
            <a:fillRect/>
          </a:stretch>
        </p:blipFill>
        <p:spPr>
          <a:xfrm>
            <a:off x="5361253" y="3278459"/>
            <a:ext cx="1469494" cy="15819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About Us:</a:t>
            </a:r>
          </a:p>
        </p:txBody>
      </p:sp>
      <p:sp>
        <p:nvSpPr>
          <p:cNvPr id="3" name="Text Placeholder 2">
            <a:extLst>
              <a:ext uri="{FF2B5EF4-FFF2-40B4-BE49-F238E27FC236}">
                <a16:creationId xmlns:a16="http://schemas.microsoft.com/office/drawing/2014/main" xmlns="" id="{8732A749-6D4D-68BF-7D83-9A1E95CC8720}"/>
              </a:ext>
            </a:extLst>
          </p:cNvPr>
          <p:cNvSpPr>
            <a:spLocks noGrp="1"/>
          </p:cNvSpPr>
          <p:nvPr>
            <p:ph type="body" idx="1"/>
          </p:nvPr>
        </p:nvSpPr>
        <p:spPr>
          <a:xfrm>
            <a:off x="838200" y="1825625"/>
            <a:ext cx="10515600" cy="3330411"/>
          </a:xfrm>
        </p:spPr>
        <p:txBody>
          <a:bodyPr>
            <a:normAutofit lnSpcReduction="10000"/>
          </a:bodyPr>
          <a:lstStyle/>
          <a:p>
            <a:pPr marL="342900" eaLnBrk="0" fontAlgn="base" hangingPunct="0">
              <a:lnSpc>
                <a:spcPct val="150000"/>
              </a:lnSpc>
              <a:spcBef>
                <a:spcPct val="0"/>
              </a:spcBef>
              <a:spcAft>
                <a:spcPct val="0"/>
              </a:spcAft>
              <a:buClrTx/>
              <a:buSzTx/>
            </a:pPr>
            <a:r>
              <a:rPr lang="en-US" sz="2400" dirty="0">
                <a:latin typeface="Times New Roman" panose="02020603050405020304" pitchFamily="18" charset="0"/>
                <a:cs typeface="Times New Roman" panose="02020603050405020304" pitchFamily="18" charset="0"/>
              </a:rPr>
              <a:t>We are Bhargava Sai, Viswa, Sriram </a:t>
            </a:r>
            <a:r>
              <a:rPr lang="en-US" altLang="en-US" sz="2400" dirty="0" err="1">
                <a:solidFill>
                  <a:schemeClr val="tx1"/>
                </a:solidFill>
                <a:latin typeface="Times New Roman" panose="02020603050405020304" pitchFamily="18" charset="0"/>
                <a:cs typeface="Times New Roman" panose="02020603050405020304" pitchFamily="18" charset="0"/>
              </a:rPr>
              <a:t>B.Tech</a:t>
            </a:r>
            <a:r>
              <a:rPr lang="en-US" altLang="en-US" sz="2400" dirty="0">
                <a:solidFill>
                  <a:schemeClr val="tx1"/>
                </a:solidFill>
                <a:latin typeface="Times New Roman" panose="02020603050405020304" pitchFamily="18" charset="0"/>
                <a:cs typeface="Times New Roman" panose="02020603050405020304" pitchFamily="18" charset="0"/>
              </a:rPr>
              <a:t> graduate passionate about Data Analytics and Visualization.</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Exploring data-driven insights through real-world datasets.</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Interested in web data extraction and business trend analysis.</a:t>
            </a:r>
          </a:p>
          <a:p>
            <a:pPr marL="342900" eaLnBrk="0" fontAlgn="base" hangingPunct="0">
              <a:lnSpc>
                <a:spcPct val="150000"/>
              </a:lnSpc>
              <a:spcBef>
                <a:spcPct val="0"/>
              </a:spcBef>
              <a:spcAft>
                <a:spcPct val="0"/>
              </a:spcAft>
              <a:buClrTx/>
              <a:buSzTx/>
            </a:pPr>
            <a:r>
              <a:rPr lang="en-US" altLang="en-US" sz="2400" b="1" dirty="0" smtClean="0">
                <a:solidFill>
                  <a:schemeClr val="tx1"/>
                </a:solidFill>
                <a:latin typeface="Times New Roman" panose="02020603050405020304" pitchFamily="18" charset="0"/>
                <a:cs typeface="Times New Roman" panose="02020603050405020304" pitchFamily="18" charset="0"/>
              </a:rPr>
              <a:t>LINKEDIN</a:t>
            </a:r>
            <a:r>
              <a:rPr lang="en-US" altLang="en-US" sz="2400" dirty="0" smtClean="0">
                <a:solidFill>
                  <a:schemeClr val="tx1"/>
                </a:solidFill>
                <a:latin typeface="Times New Roman" panose="02020603050405020304" pitchFamily="18" charset="0"/>
                <a:cs typeface="Times New Roman" panose="02020603050405020304" pitchFamily="18" charset="0"/>
              </a:rPr>
              <a:t>: </a:t>
            </a:r>
            <a:r>
              <a:rPr lang="en-US" altLang="en-US" sz="2400" dirty="0" smtClean="0">
                <a:solidFill>
                  <a:schemeClr val="tx1"/>
                </a:solidFill>
                <a:latin typeface="Times New Roman" panose="02020603050405020304" pitchFamily="18" charset="0"/>
                <a:cs typeface="Times New Roman" panose="02020603050405020304" pitchFamily="18" charset="0"/>
                <a:hlinkClick r:id="rId2"/>
              </a:rPr>
              <a:t>https://www.linkedin.com/in/viswas-atyam-100193253/</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GITHUB</a:t>
            </a:r>
            <a:r>
              <a:rPr lang="en-US" altLang="en-US" sz="2400" dirty="0" smtClean="0">
                <a:solidFill>
                  <a:schemeClr val="tx1"/>
                </a:solidFill>
                <a:latin typeface="Times New Roman" panose="02020603050405020304" pitchFamily="18" charset="0"/>
                <a:cs typeface="Times New Roman" panose="02020603050405020304" pitchFamily="18" charset="0"/>
              </a:rPr>
              <a:t>: </a:t>
            </a:r>
            <a:r>
              <a:rPr lang="en-US" altLang="en-US" sz="2400" dirty="0" smtClean="0">
                <a:solidFill>
                  <a:schemeClr val="tx1"/>
                </a:solidFill>
                <a:latin typeface="Times New Roman" panose="02020603050405020304" pitchFamily="18" charset="0"/>
                <a:cs typeface="Times New Roman" panose="02020603050405020304" pitchFamily="18" charset="0"/>
                <a:hlinkClick r:id="rId3"/>
              </a:rPr>
              <a:t>https://github.com/viswas25/EDA-Project</a:t>
            </a: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2400" dirty="0"/>
          </a:p>
        </p:txBody>
      </p:sp>
    </p:spTree>
    <p:extLst>
      <p:ext uri="{BB962C8B-B14F-4D97-AF65-F5344CB8AC3E}">
        <p14:creationId xmlns:p14="http://schemas.microsoft.com/office/powerpoint/2010/main" xmlns=""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xmlns="" id="{D0E2DCD9-A327-3BE0-5E99-2B80AB2BF98B}"/>
              </a:ext>
            </a:extLst>
          </p:cNvPr>
          <p:cNvSpPr>
            <a:spLocks noGrp="1"/>
          </p:cNvSpPr>
          <p:nvPr>
            <p:ph type="body" idx="1"/>
          </p:nvPr>
        </p:nvSpPr>
        <p:spPr>
          <a:xfrm>
            <a:off x="837707" y="1380941"/>
            <a:ext cx="10778560" cy="4748926"/>
          </a:xfrm>
        </p:spPr>
        <p:txBody>
          <a:bodyPr>
            <a:noAutofit/>
          </a:bodyPr>
          <a:lstStyle/>
          <a:p>
            <a:pPr>
              <a:lnSpc>
                <a:spcPct val="120000"/>
              </a:lnSpc>
            </a:pPr>
            <a:r>
              <a:rPr lang="en-GB" sz="2000" dirty="0">
                <a:latin typeface="Times New Roman" panose="02020603050405020304" pitchFamily="18" charset="0"/>
                <a:cs typeface="Times New Roman" panose="02020603050405020304" pitchFamily="18" charset="0"/>
              </a:rPr>
              <a:t>The project aims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chimney products available on Flipkart using data obtained through web scraping, to understand customer preferences, pricing trends, and brand performance.</a:t>
            </a:r>
          </a:p>
          <a:p>
            <a:pPr>
              <a:lnSpc>
                <a:spcPct val="120000"/>
              </a:lnSpc>
            </a:pPr>
            <a:r>
              <a:rPr lang="en-GB" sz="2000" dirty="0">
                <a:latin typeface="Times New Roman" panose="02020603050405020304" pitchFamily="18" charset="0"/>
                <a:cs typeface="Times New Roman" panose="02020603050405020304" pitchFamily="18" charset="0"/>
              </a:rPr>
              <a:t>The main objective of this study is to perform Exploratory Data Analysis (EDA) on the collected data to identify trends, customer preferences, and pricing patterns within the online chimney market.</a:t>
            </a:r>
          </a:p>
          <a:p>
            <a:pPr>
              <a:lnSpc>
                <a:spcPct val="120000"/>
              </a:lnSpc>
            </a:pPr>
            <a:r>
              <a:rPr lang="en-GB" sz="2000" dirty="0">
                <a:latin typeface="Times New Roman" panose="02020603050405020304" pitchFamily="18" charset="0"/>
                <a:cs typeface="Times New Roman" panose="02020603050405020304" pitchFamily="18" charset="0"/>
              </a:rPr>
              <a:t>The dataset was cleaned and processed to remove irrelevant or duplicate information, making it suitable for analysis. This ensures that the results and insights derived from the data are accurate and meaningful.</a:t>
            </a:r>
          </a:p>
          <a:p>
            <a:pPr>
              <a:lnSpc>
                <a:spcPct val="120000"/>
              </a:lnSpc>
            </a:pPr>
            <a:r>
              <a:rPr lang="en-GB" sz="2000" dirty="0">
                <a:latin typeface="Times New Roman" panose="02020603050405020304" pitchFamily="18" charset="0"/>
                <a:cs typeface="Times New Roman" panose="02020603050405020304" pitchFamily="18" charset="0"/>
              </a:rPr>
              <a:t>Through this project, insights were drawn regarding the most popular brands, most common suction capacities, frequently preferred sizes, and how price and ratings influence customer buying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on Flipkart.</a:t>
            </a: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xmlns=""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xmlns=""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xmlns="" val="285989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xmlns=""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AC757C9-6048-86FD-D462-6C4061560167}"/>
              </a:ext>
            </a:extLst>
          </p:cNvPr>
          <p:cNvSpPr>
            <a:spLocks noGrp="1"/>
          </p:cNvSpPr>
          <p:nvPr>
            <p:ph type="title"/>
          </p:nvPr>
        </p:nvSpPr>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3" name="Text Placeholder 2"/>
          <p:cNvSpPr>
            <a:spLocks noGrp="1"/>
          </p:cNvSpPr>
          <p:nvPr>
            <p:ph type="body" idx="1"/>
          </p:nvPr>
        </p:nvSpPr>
        <p:spPr>
          <a:xfrm>
            <a:off x="838200" y="1512711"/>
            <a:ext cx="10515600" cy="4664252"/>
          </a:xfrm>
        </p:spPr>
        <p:txBody>
          <a:bodyPr>
            <a:normAutofit/>
          </a:bodyPr>
          <a:lstStyle/>
          <a:p>
            <a:r>
              <a:rPr lang="en-GB" sz="2000" dirty="0">
                <a:latin typeface="Times New Roman" panose="02020603050405020304" pitchFamily="18" charset="0"/>
                <a:cs typeface="Times New Roman" panose="02020603050405020304" pitchFamily="18" charset="0"/>
              </a:rPr>
              <a:t>The online home appliance market is highly competitive, and brands struggle to understand which factors — such as price, ratings, or suction capacity — most influence customer purchase decisions for chimneys.</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Companies lack data-driven insights on how pricing, ratings, and customer reviews affect product popularity and brand performance on e-commerce platforms like Flipkart.</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There is a need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Flipkart product data to uncover patterns in customer preferences, pricing trends, and ratings to help brands improve marketing and pricing strategies effectively.</a:t>
            </a:r>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xmlns=""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xmlns=""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xmlns="" val="396773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EAFAD8-355A-6C86-DAAE-3E3F9DC686CB}"/>
              </a:ext>
            </a:extLst>
          </p:cNvPr>
          <p:cNvSpPr>
            <a:spLocks noGrp="1"/>
          </p:cNvSpPr>
          <p:nvPr>
            <p:ph type="title"/>
          </p:nvPr>
        </p:nvSpPr>
        <p:spPr>
          <a:xfrm>
            <a:off x="100781" y="430018"/>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xmlns="" id="{552E286A-B439-A981-0498-5FBB8AF70FC4}"/>
              </a:ext>
            </a:extLst>
          </p:cNvPr>
          <p:cNvSpPr>
            <a:spLocks noGrp="1"/>
          </p:cNvSpPr>
          <p:nvPr>
            <p:ph type="body" idx="1"/>
          </p:nvPr>
        </p:nvSpPr>
        <p:spPr>
          <a:xfrm>
            <a:off x="1015181" y="1507059"/>
            <a:ext cx="10183397" cy="3979341"/>
          </a:xfrm>
        </p:spPr>
        <p:txBody>
          <a:bodyPr>
            <a:noAutofit/>
          </a:bodyPr>
          <a:lstStyle/>
          <a:p>
            <a:pPr algn="just">
              <a:lnSpc>
                <a:spcPct val="150000"/>
              </a:lnSpc>
            </a:pPr>
            <a:r>
              <a:rPr lang="en-GB" sz="2000" dirty="0">
                <a:latin typeface="Times New Roman" panose="02020603050405020304" pitchFamily="18" charset="0"/>
                <a:cs typeface="Times New Roman" panose="02020603050405020304" pitchFamily="18" charset="0"/>
              </a:rPr>
              <a:t>To collect and organize chimney product data from Flipkart through web scraping, including attributes such as brand, price, rating, reviews, suction capacity, and size.</a:t>
            </a:r>
          </a:p>
          <a:p>
            <a:pPr algn="just">
              <a:lnSpc>
                <a:spcPct val="150000"/>
              </a:lnSpc>
            </a:pPr>
            <a:r>
              <a:rPr lang="en-GB" sz="2000" dirty="0">
                <a:latin typeface="Times New Roman" panose="02020603050405020304" pitchFamily="18" charset="0"/>
                <a:cs typeface="Times New Roman" panose="02020603050405020304" pitchFamily="18" charset="0"/>
              </a:rPr>
              <a:t>To perform Exploratory Data Analysis (EDA) to identify patterns, trends, and relationships between different product features like price, rating, and brand performance.</a:t>
            </a:r>
          </a:p>
          <a:p>
            <a:pPr algn="just">
              <a:lnSpc>
                <a:spcPct val="150000"/>
              </a:lnSpc>
            </a:pPr>
            <a:r>
              <a:rPr lang="en-GB" sz="2000" dirty="0">
                <a:latin typeface="Times New Roman" panose="02020603050405020304" pitchFamily="18" charset="0"/>
                <a:cs typeface="Times New Roman" panose="02020603050405020304" pitchFamily="18" charset="0"/>
              </a:rPr>
              <a:t>To visualize the data using charts and plots for better understanding of customer preferences and market distribution.</a:t>
            </a:r>
          </a:p>
          <a:p>
            <a:pPr algn="just">
              <a:lnSpc>
                <a:spcPct val="150000"/>
              </a:lnSpc>
            </a:pPr>
            <a:r>
              <a:rPr lang="en-GB" sz="2000" dirty="0">
                <a:latin typeface="Times New Roman" panose="02020603050405020304" pitchFamily="18" charset="0"/>
                <a:cs typeface="Times New Roman" panose="02020603050405020304" pitchFamily="18" charset="0"/>
              </a:rPr>
              <a:t>To derive meaningful business insights that can help brands optimize pricing, improve customer satisfaction, and enhance product visibility in the online market.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9102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xmlns="" id="{8CBABC51-E6DE-FD43-74F8-6AC7547F18CD}"/>
              </a:ext>
            </a:extLst>
          </p:cNvPr>
          <p:cNvSpPr txBox="1"/>
          <p:nvPr/>
        </p:nvSpPr>
        <p:spPr>
          <a:xfrm>
            <a:off x="406400" y="1294960"/>
            <a:ext cx="7461956" cy="43458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Flipkart’s official website was selected as the primary data source for extracting chimney-related product information.</a:t>
            </a:r>
          </a:p>
          <a:p>
            <a:pPr marL="342900" indent="-34290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data was scraped using Python libraries — </a:t>
            </a:r>
            <a:r>
              <a:rPr lang="en-GB" sz="2000" dirty="0" err="1">
                <a:latin typeface="Times New Roman" panose="02020603050405020304" pitchFamily="18" charset="0"/>
                <a:cs typeface="Times New Roman" panose="02020603050405020304" pitchFamily="18" charset="0"/>
              </a:rPr>
              <a:t>BeautifulSoup</a:t>
            </a:r>
            <a:r>
              <a:rPr lang="en-GB" sz="2000" dirty="0">
                <a:latin typeface="Times New Roman" panose="02020603050405020304" pitchFamily="18" charset="0"/>
                <a:cs typeface="Times New Roman" panose="02020603050405020304" pitchFamily="18" charset="0"/>
              </a:rPr>
              <a:t> and Requests to collect structured details of various chimney products.</a:t>
            </a:r>
          </a:p>
          <a:p>
            <a:pPr marL="342900" indent="-34290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extracted attributes included: </a:t>
            </a:r>
            <a:r>
              <a:rPr lang="en-GB" sz="2000" b="1" dirty="0">
                <a:latin typeface="Times New Roman" panose="02020603050405020304" pitchFamily="18" charset="0"/>
                <a:cs typeface="Times New Roman" panose="02020603050405020304" pitchFamily="18" charset="0"/>
              </a:rPr>
              <a:t>Product Name, Brand, Price, Rating, Offer, Review Count, Suction </a:t>
            </a:r>
            <a:r>
              <a:rPr lang="en-GB" sz="2000" b="1" dirty="0" err="1">
                <a:latin typeface="Times New Roman" panose="02020603050405020304" pitchFamily="18" charset="0"/>
                <a:cs typeface="Times New Roman" panose="02020603050405020304" pitchFamily="18" charset="0"/>
              </a:rPr>
              <a:t>Capacity,Size</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Offer_clean</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Suction_clean</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Rating_Performance</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suction_bins</a:t>
            </a:r>
            <a:r>
              <a:rPr lang="en-GB"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lvl="8"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The scraped data was cleaned and saved in a </a:t>
            </a:r>
            <a:r>
              <a:rPr lang="en-GB" sz="2000" b="1" dirty="0">
                <a:latin typeface="Times New Roman" panose="02020603050405020304" pitchFamily="18" charset="0"/>
                <a:cs typeface="Times New Roman" panose="02020603050405020304" pitchFamily="18" charset="0"/>
              </a:rPr>
              <a:t>CSV file</a:t>
            </a:r>
            <a:r>
              <a:rPr lang="en-GB" sz="2000" dirty="0">
                <a:latin typeface="Times New Roman" panose="02020603050405020304" pitchFamily="18" charset="0"/>
                <a:cs typeface="Times New Roman" panose="02020603050405020304" pitchFamily="18" charset="0"/>
              </a:rPr>
              <a:t> format for further data analysis and visualization.</a:t>
            </a:r>
            <a:r>
              <a:rPr lang="en-US" sz="2000" dirty="0">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7868356" y="1109079"/>
            <a:ext cx="4302291" cy="3939822"/>
          </a:xfrm>
          <a:prstGeom prst="rect">
            <a:avLst/>
          </a:prstGeom>
        </p:spPr>
      </p:pic>
    </p:spTree>
    <p:extLst>
      <p:ext uri="{BB962C8B-B14F-4D97-AF65-F5344CB8AC3E}">
        <p14:creationId xmlns:p14="http://schemas.microsoft.com/office/powerpoint/2010/main" xmlns=""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xmlns=""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16144" y="1432755"/>
            <a:ext cx="3930769" cy="1362075"/>
          </a:xfrm>
          <a:prstGeom prst="rect">
            <a:avLst/>
          </a:prstGeom>
          <a:noFill/>
          <a:extLst>
            <a:ext uri="{909E8E84-426E-40DD-AFC4-6F175D3DCCD1}">
              <a14:hiddenFill xmlns:a14="http://schemas.microsoft.com/office/drawing/2010/main" xmlns="">
                <a:solidFill>
                  <a:srgbClr val="FFFFFF"/>
                </a:solidFill>
              </a14:hiddenFill>
            </a:ext>
          </a:extLst>
        </p:spPr>
      </p:pic>
      <p:pic>
        <p:nvPicPr>
          <p:cNvPr id="3078" name="Picture 6">
            <a:extLst>
              <a:ext uri="{FF2B5EF4-FFF2-40B4-BE49-F238E27FC236}">
                <a16:creationId xmlns:a16="http://schemas.microsoft.com/office/drawing/2014/main" xmlns=""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xmlns="">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xmlns=""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xmlns="">
                <a:solidFill>
                  <a:srgbClr val="FFFFFF"/>
                </a:solidFill>
              </a14:hiddenFill>
            </a:ext>
          </a:extLst>
        </p:spPr>
      </p:pic>
      <p:pic>
        <p:nvPicPr>
          <p:cNvPr id="3086" name="Picture 14" descr="Citing and logo — seaborn 0.13.2 ...">
            <a:extLst>
              <a:ext uri="{FF2B5EF4-FFF2-40B4-BE49-F238E27FC236}">
                <a16:creationId xmlns:a16="http://schemas.microsoft.com/office/drawing/2014/main" xmlns="" id="{7EC87C6C-8C0E-53D2-B133-B39020CFBBF3}"/>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6676632" y="1628315"/>
            <a:ext cx="4000500" cy="1143000"/>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Matplotlib Logo &amp; Brand Assets (SVG ...">
            <a:extLst>
              <a:ext uri="{FF2B5EF4-FFF2-40B4-BE49-F238E27FC236}">
                <a16:creationId xmlns:a16="http://schemas.microsoft.com/office/drawing/2014/main" xmlns="" id="{65CBCFCE-FD98-D992-1C08-65F5EFEB6145}"/>
              </a:ext>
            </a:extLst>
          </p:cNvPr>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2"/>
                                        </p:tgtEl>
                                        <p:attrNameLst>
                                          <p:attrName>style.visibility</p:attrName>
                                        </p:attrNameLst>
                                      </p:cBhvr>
                                      <p:to>
                                        <p:strVal val="visible"/>
                                      </p:to>
                                    </p:set>
                                    <p:animEffect transition="in" filter="barn(inVertical)">
                                      <p:cBhvr>
                                        <p:cTn id="7" dur="500"/>
                                        <p:tgtEl>
                                          <p:spTgt spid="30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barn(inVertical)">
                                      <p:cBhvr>
                                        <p:cTn id="12" dur="500"/>
                                        <p:tgtEl>
                                          <p:spTgt spid="307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arn(inVertical)">
                                      <p:cBhvr>
                                        <p:cTn id="17" dur="5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086"/>
                                        </p:tgtEl>
                                        <p:attrNameLst>
                                          <p:attrName>style.visibility</p:attrName>
                                        </p:attrNameLst>
                                      </p:cBhvr>
                                      <p:to>
                                        <p:strVal val="visible"/>
                                      </p:to>
                                    </p:set>
                                    <p:animEffect transition="in" filter="barn(inVertical)">
                                      <p:cBhvr>
                                        <p:cTn id="27"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E33525-D926-CE9E-E017-A7BE8655ED3C}"/>
              </a:ext>
            </a:extLst>
          </p:cNvPr>
          <p:cNvSpPr>
            <a:spLocks noGrp="1"/>
          </p:cNvSpPr>
          <p:nvPr>
            <p:ph type="title"/>
          </p:nvPr>
        </p:nvSpPr>
        <p:spPr>
          <a:xfrm>
            <a:off x="584036" y="249722"/>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xmlns="" id="{3B15DCCC-4D7B-11A3-E7AE-A55D7E9A484F}"/>
              </a:ext>
            </a:extLst>
          </p:cNvPr>
          <p:cNvSpPr txBox="1"/>
          <p:nvPr/>
        </p:nvSpPr>
        <p:spPr>
          <a:xfrm>
            <a:off x="796858" y="973394"/>
            <a:ext cx="10627497" cy="5324535"/>
          </a:xfrm>
          <a:prstGeom prst="rect">
            <a:avLst/>
          </a:prstGeom>
          <a:noFill/>
        </p:spPr>
        <p:txBody>
          <a:bodyPr wrap="square" rtlCol="0">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raw dataset obtained from Flipkart contained </a:t>
            </a:r>
            <a:r>
              <a:rPr lang="en-GB" sz="2000" b="1" dirty="0">
                <a:latin typeface="Times New Roman" panose="02020603050405020304" pitchFamily="18" charset="0"/>
                <a:cs typeface="Times New Roman" panose="02020603050405020304" pitchFamily="18" charset="0"/>
              </a:rPr>
              <a:t>456 rows and 8 columns</a:t>
            </a:r>
            <a:r>
              <a:rPr lang="en-GB" sz="2000" dirty="0">
                <a:latin typeface="Times New Roman" panose="02020603050405020304" pitchFamily="18" charset="0"/>
                <a:cs typeface="Times New Roman" panose="02020603050405020304" pitchFamily="18" charset="0"/>
              </a:rPr>
              <a:t>, which included duplicate and incomplete records.</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Missing values in columns such as </a:t>
            </a:r>
            <a:r>
              <a:rPr lang="en-GB" sz="2000" b="1" dirty="0">
                <a:latin typeface="Times New Roman" panose="02020603050405020304" pitchFamily="18" charset="0"/>
                <a:cs typeface="Times New Roman" panose="02020603050405020304" pitchFamily="18" charset="0"/>
              </a:rPr>
              <a:t>Price, Rating, and Review Count</a:t>
            </a:r>
            <a:r>
              <a:rPr lang="en-GB" sz="2000" dirty="0">
                <a:latin typeface="Times New Roman" panose="02020603050405020304" pitchFamily="18" charset="0"/>
                <a:cs typeface="Times New Roman" panose="02020603050405020304" pitchFamily="18" charset="0"/>
              </a:rPr>
              <a:t> were identified and handled using appropriate cleaning methods like removal or imputation.</a:t>
            </a:r>
          </a:p>
          <a:p>
            <a:pPr algn="just"/>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Duplicate product entries and irrelevant data were removed to ensure data consistency and reliability. Data types were converted into suitable formats — for example, Price was converted from text to numeric and Rating from string to float values.</a:t>
            </a:r>
          </a:p>
          <a:p>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Additional useful features such as </a:t>
            </a:r>
            <a:r>
              <a:rPr lang="en-GB" sz="2000" b="1" dirty="0">
                <a:latin typeface="Times New Roman" panose="02020603050405020304" pitchFamily="18" charset="0"/>
                <a:cs typeface="Times New Roman" panose="02020603050405020304" pitchFamily="18" charset="0"/>
              </a:rPr>
              <a:t>Offer Percentage</a:t>
            </a:r>
            <a:r>
              <a:rPr lang="en-GB" sz="2000" dirty="0">
                <a:latin typeface="Times New Roman" panose="02020603050405020304" pitchFamily="18" charset="0"/>
                <a:cs typeface="Times New Roman" panose="02020603050405020304" pitchFamily="18" charset="0"/>
              </a:rPr>
              <a:t> and </a:t>
            </a:r>
            <a:r>
              <a:rPr lang="en-GB" sz="2000" b="1" dirty="0">
                <a:latin typeface="Times New Roman" panose="02020603050405020304" pitchFamily="18" charset="0"/>
                <a:cs typeface="Times New Roman" panose="02020603050405020304" pitchFamily="18" charset="0"/>
              </a:rPr>
              <a:t>Brand Category</a:t>
            </a:r>
            <a:r>
              <a:rPr lang="en-GB" sz="2000" dirty="0">
                <a:latin typeface="Times New Roman" panose="02020603050405020304" pitchFamily="18" charset="0"/>
                <a:cs typeface="Times New Roman" panose="02020603050405020304" pitchFamily="18" charset="0"/>
              </a:rPr>
              <a:t> were extracted from existing columns to enhance analysis.</a:t>
            </a:r>
          </a:p>
          <a:p>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After cleaning and </a:t>
            </a:r>
            <a:r>
              <a:rPr lang="en-GB" sz="2000" dirty="0" err="1">
                <a:latin typeface="Times New Roman" panose="02020603050405020304" pitchFamily="18" charset="0"/>
                <a:cs typeface="Times New Roman" panose="02020603050405020304" pitchFamily="18" charset="0"/>
              </a:rPr>
              <a:t>preprocessing</a:t>
            </a:r>
            <a:r>
              <a:rPr lang="en-GB" sz="2000" dirty="0">
                <a:latin typeface="Times New Roman" panose="02020603050405020304" pitchFamily="18" charset="0"/>
                <a:cs typeface="Times New Roman" panose="02020603050405020304" pitchFamily="18" charset="0"/>
              </a:rPr>
              <a:t>, the final dataset contained </a:t>
            </a:r>
            <a:r>
              <a:rPr lang="en-GB" sz="2000" b="1" dirty="0">
                <a:latin typeface="Times New Roman" panose="02020603050405020304" pitchFamily="18" charset="0"/>
                <a:cs typeface="Times New Roman" panose="02020603050405020304" pitchFamily="18" charset="0"/>
              </a:rPr>
              <a:t>451 rows and 10 well-structured columns</a:t>
            </a:r>
            <a:r>
              <a:rPr lang="en-GB" sz="2000" dirty="0">
                <a:latin typeface="Times New Roman" panose="02020603050405020304" pitchFamily="18" charset="0"/>
                <a:cs typeface="Times New Roman" panose="02020603050405020304" pitchFamily="18" charset="0"/>
              </a:rPr>
              <a:t>, ensuring it was accurate, consistent, and ready for Exploratory Data Analysis (EDA).</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442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45493" y="1348298"/>
            <a:ext cx="4416816" cy="4530613"/>
          </a:xfrm>
          <a:prstGeom prst="rect">
            <a:avLst/>
          </a:prstGeom>
        </p:spPr>
      </p:pic>
      <p:pic>
        <p:nvPicPr>
          <p:cNvPr id="5" name="Picture 4"/>
          <p:cNvPicPr>
            <a:picLocks noChangeAspect="1"/>
          </p:cNvPicPr>
          <p:nvPr/>
        </p:nvPicPr>
        <p:blipFill>
          <a:blip r:embed="rId3"/>
          <a:stretch>
            <a:fillRect/>
          </a:stretch>
        </p:blipFill>
        <p:spPr>
          <a:xfrm>
            <a:off x="6099856" y="1465071"/>
            <a:ext cx="4861369" cy="4297065"/>
          </a:xfrm>
          <a:prstGeom prst="rect">
            <a:avLst/>
          </a:prstGeom>
        </p:spPr>
      </p:pic>
      <p:sp>
        <p:nvSpPr>
          <p:cNvPr id="11" name="Title 10"/>
          <p:cNvSpPr>
            <a:spLocks noGrp="1"/>
          </p:cNvSpPr>
          <p:nvPr>
            <p:ph type="title"/>
          </p:nvPr>
        </p:nvSpPr>
        <p:spPr>
          <a:xfrm>
            <a:off x="951533" y="226228"/>
            <a:ext cx="10296646" cy="983173"/>
          </a:xfrm>
        </p:spPr>
        <p:txBody>
          <a:bodyPr/>
          <a:lstStyle/>
          <a:p>
            <a:r>
              <a:rPr lang="en-GB" sz="3600" b="1" dirty="0" smtClean="0">
                <a:latin typeface="Times New Roman" panose="02020603050405020304" pitchFamily="18" charset="0"/>
                <a:cs typeface="Times New Roman" panose="02020603050405020304" pitchFamily="18" charset="0"/>
              </a:rPr>
              <a:t>Removing Outliers using Log Transformation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4042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2156DB9-CFE0-861F-FD41-2793A641B21A}"/>
              </a:ext>
            </a:extLst>
          </p:cNvPr>
          <p:cNvSpPr>
            <a:spLocks noGrp="1"/>
          </p:cNvSpPr>
          <p:nvPr>
            <p:ph type="title"/>
          </p:nvPr>
        </p:nvSpPr>
        <p:spPr>
          <a:xfrm>
            <a:off x="0" y="354768"/>
            <a:ext cx="8559538" cy="1210081"/>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Price Distribution of Chimneys:</a:t>
            </a:r>
          </a:p>
        </p:txBody>
      </p:sp>
      <p:sp>
        <p:nvSpPr>
          <p:cNvPr id="7" name="Rectangle 6"/>
          <p:cNvSpPr/>
          <p:nvPr/>
        </p:nvSpPr>
        <p:spPr>
          <a:xfrm>
            <a:off x="895546" y="1357460"/>
            <a:ext cx="6004875" cy="3862596"/>
          </a:xfrm>
          <a:prstGeom prst="rect">
            <a:avLst/>
          </a:prstGeom>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chimneys are priced between  </a:t>
            </a:r>
            <a:r>
              <a:rPr lang="en-US"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5,000</a:t>
            </a:r>
            <a:r>
              <a:rPr lang="en-US"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20,000</a:t>
            </a:r>
            <a:r>
              <a:rPr lang="en-US"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Only a few premium models go above ₹</a:t>
            </a:r>
            <a:r>
              <a:rPr lang="en-IN" sz="1600" dirty="0">
                <a:latin typeface="Times New Roman" panose="02020603050405020304" pitchFamily="18" charset="0"/>
                <a:cs typeface="Times New Roman" panose="02020603050405020304" pitchFamily="18" charset="0"/>
              </a:rPr>
              <a:t>20,000.</a:t>
            </a:r>
          </a:p>
          <a:p>
            <a:pPr marL="342900" indent="-34290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Distribution is right-skewed, showing affordability focus.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Represents a price-sensitive market segment.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itchFamily="18" charset="0"/>
              </a:rPr>
              <a:t>Most chimneys are mid-range products, indicating brands target budget-conscious customers.</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srcRect/>
          <a:stretch>
            <a:fillRect/>
          </a:stretch>
        </p:blipFill>
        <p:spPr bwMode="auto">
          <a:xfrm>
            <a:off x="6759019" y="1357460"/>
            <a:ext cx="5159603" cy="4716118"/>
          </a:xfrm>
          <a:prstGeom prst="rect">
            <a:avLst/>
          </a:prstGeom>
          <a:noFill/>
          <a:ln w="9525">
            <a:noFill/>
            <a:miter lim="800000"/>
            <a:headEnd/>
            <a:tailEnd/>
          </a:ln>
          <a:effectLst/>
        </p:spPr>
      </p:pic>
    </p:spTree>
    <p:extLst>
      <p:ext uri="{BB962C8B-B14F-4D97-AF65-F5344CB8AC3E}">
        <p14:creationId xmlns:p14="http://schemas.microsoft.com/office/powerpoint/2010/main" xmlns="" val="253083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2A07876-07C0-93DC-2DD7-21561A9F9908}"/>
              </a:ext>
            </a:extLst>
          </p:cNvPr>
          <p:cNvSpPr>
            <a:spLocks noGrp="1"/>
          </p:cNvSpPr>
          <p:nvPr>
            <p:ph type="title"/>
          </p:nvPr>
        </p:nvSpPr>
        <p:spPr>
          <a:xfrm>
            <a:off x="0" y="354768"/>
            <a:ext cx="7503736" cy="614589"/>
          </a:xfrm>
        </p:spPr>
        <p:txBody>
          <a:bodyPr>
            <a:noAutofit/>
          </a:bodyPr>
          <a:lstStyle/>
          <a:p>
            <a:pPr algn="ctr"/>
            <a:r>
              <a:rPr lang="en-US" sz="4000" b="1" dirty="0">
                <a:latin typeface="Times New Roman" pitchFamily="18" charset="0"/>
                <a:cs typeface="Times New Roman" pitchFamily="18" charset="0"/>
              </a:rPr>
              <a:t>Customer Rating Distribution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207890F0-5585-BA3C-7BA1-63E4312F4CE6}"/>
              </a:ext>
            </a:extLst>
          </p:cNvPr>
          <p:cNvSpPr txBox="1"/>
          <p:nvPr/>
        </p:nvSpPr>
        <p:spPr>
          <a:xfrm>
            <a:off x="810704" y="1084082"/>
            <a:ext cx="6193411"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Majority of chimneys have ratings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between</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3.8</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and</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4.5</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Indicates consistently positive customer satisfaction</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Very few products fall below 3 — minimal negative feedback.</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Slightly </a:t>
            </a:r>
            <a:r>
              <a:rPr lang="en-US" sz="2000" b="1" dirty="0">
                <a:latin typeface="Times New Roman" pitchFamily="18" charset="0"/>
                <a:cs typeface="Times New Roman" pitchFamily="18" charset="0"/>
              </a:rPr>
              <a:t>left-skewed</a:t>
            </a:r>
            <a:r>
              <a:rPr lang="en-US" sz="2000" dirty="0">
                <a:latin typeface="Times New Roman" pitchFamily="18" charset="0"/>
                <a:cs typeface="Times New Roman" pitchFamily="18" charset="0"/>
              </a:rPr>
              <a:t>, showing overall good reviews.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In this the summary is customers are generally happy, showing that most chimney models are reliable and well-received</a:t>
            </a:r>
            <a:r>
              <a:rPr lang="en-US" sz="2000" dirty="0"/>
              <a:t>.</a:t>
            </a: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7145518" y="207391"/>
            <a:ext cx="4644106" cy="287517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7098384" y="3073138"/>
            <a:ext cx="4751108" cy="3233394"/>
          </a:xfrm>
          <a:prstGeom prst="rect">
            <a:avLst/>
          </a:prstGeom>
          <a:noFill/>
          <a:ln w="9525">
            <a:noFill/>
            <a:miter lim="800000"/>
            <a:headEnd/>
            <a:tailEnd/>
          </a:ln>
          <a:effectLst/>
        </p:spPr>
      </p:pic>
    </p:spTree>
    <p:extLst>
      <p:ext uri="{BB962C8B-B14F-4D97-AF65-F5344CB8AC3E}">
        <p14:creationId xmlns:p14="http://schemas.microsoft.com/office/powerpoint/2010/main" xmlns="" val="71271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C66B82-888C-47A4-9A93-E3BDA0BC9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224AAAA-6A70-A375-E36A-57C13DEB250D}"/>
              </a:ext>
            </a:extLst>
          </p:cNvPr>
          <p:cNvSpPr>
            <a:spLocks noGrp="1"/>
          </p:cNvSpPr>
          <p:nvPr>
            <p:ph type="title"/>
          </p:nvPr>
        </p:nvSpPr>
        <p:spPr>
          <a:xfrm>
            <a:off x="0" y="354768"/>
            <a:ext cx="7051249" cy="614589"/>
          </a:xfrm>
        </p:spPr>
        <p:txBody>
          <a:bodyPr>
            <a:noAutofit/>
          </a:bodyPr>
          <a:lstStyle/>
          <a:p>
            <a:pPr algn="ctr"/>
            <a:r>
              <a:rPr lang="en-US" sz="4000" dirty="0">
                <a:latin typeface="Times New Roman" pitchFamily="18" charset="0"/>
                <a:cs typeface="Times New Roman" pitchFamily="18" charset="0"/>
              </a:rPr>
              <a:t>Review Count Distribution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AB5F5D73-9438-374C-2CD9-92C838053E30}"/>
              </a:ext>
            </a:extLst>
          </p:cNvPr>
          <p:cNvSpPr txBox="1"/>
          <p:nvPr/>
        </p:nvSpPr>
        <p:spPr>
          <a:xfrm>
            <a:off x="801279" y="1093510"/>
            <a:ext cx="6938128"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 review counts are highly</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right-skewed, meaning most products have very few reviews.</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A majority of products have under 100 reviews, showing relatively low customer engagement.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However, a small number of products have extremely high reviews (500–2000+), indicating clear bestsellers.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that a few popular models are driving most of the attention and customer trust in the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t>Overall Summary:</a:t>
            </a:r>
            <a:r>
              <a:rPr lang="en-US" sz="2000" dirty="0"/>
              <a:t/>
            </a:r>
            <a:br>
              <a:rPr lang="en-US" sz="2000" dirty="0"/>
            </a:br>
            <a:r>
              <a:rPr lang="en-US" sz="2000" dirty="0">
                <a:latin typeface="Times New Roman" pitchFamily="18" charset="0"/>
                <a:cs typeface="Times New Roman" pitchFamily="18" charset="0"/>
              </a:rPr>
              <a:t>The market’s popularity is not evenly spread-a handful of top models dominate, while the majority remain less noticed.</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7343480" y="395926"/>
            <a:ext cx="4468305" cy="2696066"/>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7371761" y="3195687"/>
            <a:ext cx="4487159" cy="2960016"/>
          </a:xfrm>
          <a:prstGeom prst="rect">
            <a:avLst/>
          </a:prstGeom>
          <a:noFill/>
          <a:ln w="9525">
            <a:noFill/>
            <a:miter lim="800000"/>
            <a:headEnd/>
            <a:tailEnd/>
          </a:ln>
          <a:effectLst/>
        </p:spPr>
      </p:pic>
    </p:spTree>
    <p:extLst>
      <p:ext uri="{BB962C8B-B14F-4D97-AF65-F5344CB8AC3E}">
        <p14:creationId xmlns:p14="http://schemas.microsoft.com/office/powerpoint/2010/main" xmlns="" val="27237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ACBA065-3F45-1970-A334-E1F2237E112B}"/>
              </a:ext>
            </a:extLst>
          </p:cNvPr>
          <p:cNvSpPr>
            <a:spLocks noGrp="1"/>
          </p:cNvSpPr>
          <p:nvPr>
            <p:ph type="title"/>
          </p:nvPr>
        </p:nvSpPr>
        <p:spPr>
          <a:xfrm>
            <a:off x="424205" y="354768"/>
            <a:ext cx="7400041" cy="614589"/>
          </a:xfrm>
        </p:spPr>
        <p:txBody>
          <a:bodyPr>
            <a:noAutofit/>
          </a:bodyPr>
          <a:lstStyle/>
          <a:p>
            <a:pPr algn="ctr"/>
            <a:r>
              <a:rPr lang="en-US" sz="4000" b="1" dirty="0">
                <a:latin typeface="Times New Roman" pitchFamily="18" charset="0"/>
                <a:cs typeface="Times New Roman" pitchFamily="18" charset="0"/>
              </a:rPr>
              <a:t>Discount Offers on Chimneys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720DFE87-3B98-24A9-3C1B-2A43B4D9DD06}"/>
              </a:ext>
            </a:extLst>
          </p:cNvPr>
          <p:cNvSpPr txBox="1"/>
          <p:nvPr/>
        </p:nvSpPr>
        <p:spPr>
          <a:xfrm>
            <a:off x="1018094" y="1135517"/>
            <a:ext cx="6014301"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Most products are offered at 40% to 70% discounts.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There is a noticeable peak around 60–70%, which appears to be the most common discount range.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indicates a highly competitive and discount-focused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Brands seem to use discounts strategically to </a:t>
            </a:r>
            <a:r>
              <a:rPr lang="en-US" sz="2000" b="1" dirty="0">
                <a:latin typeface="Times New Roman" pitchFamily="18" charset="0"/>
                <a:cs typeface="Times New Roman" pitchFamily="18" charset="0"/>
              </a:rPr>
              <a:t>attract price-sensitive, mid-range buyers</a:t>
            </a:r>
            <a:r>
              <a:rPr lang="en-US" sz="2000" dirty="0">
                <a:latin typeface="Times New Roman" pitchFamily="18" charset="0"/>
                <a:cs typeface="Times New Roman" pitchFamily="18" charset="0"/>
              </a:rPr>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b="1" dirty="0"/>
              <a:t>:</a:t>
            </a:r>
            <a:r>
              <a:rPr lang="en-US" sz="2000" dirty="0"/>
              <a:t/>
            </a:r>
            <a:br>
              <a:rPr lang="en-US" sz="2000" dirty="0"/>
            </a:br>
            <a:r>
              <a:rPr lang="en-US" sz="2000" dirty="0">
                <a:latin typeface="Times New Roman" pitchFamily="18" charset="0"/>
                <a:cs typeface="Times New Roman" pitchFamily="18" charset="0"/>
              </a:rPr>
              <a:t>Heavy discounting is a key marketing tactic used to drive sales and stand out in a crowded market segment.</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985262" y="1663172"/>
            <a:ext cx="5206738" cy="4153165"/>
          </a:xfrm>
          <a:prstGeom prst="rect">
            <a:avLst/>
          </a:prstGeom>
          <a:noFill/>
          <a:ln w="9525">
            <a:noFill/>
            <a:miter lim="800000"/>
            <a:headEnd/>
            <a:tailEnd/>
          </a:ln>
          <a:effectLst/>
        </p:spPr>
      </p:pic>
    </p:spTree>
    <p:extLst>
      <p:ext uri="{BB962C8B-B14F-4D97-AF65-F5344CB8AC3E}">
        <p14:creationId xmlns:p14="http://schemas.microsoft.com/office/powerpoint/2010/main" xmlns="" val="30581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649E88-4526-D32F-FA99-F8D0DD335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4811ECB-3EDE-E23F-4E4E-253ECB3A56FB}"/>
              </a:ext>
            </a:extLst>
          </p:cNvPr>
          <p:cNvSpPr>
            <a:spLocks noGrp="1"/>
          </p:cNvSpPr>
          <p:nvPr>
            <p:ph type="title"/>
          </p:nvPr>
        </p:nvSpPr>
        <p:spPr>
          <a:xfrm>
            <a:off x="301658" y="354768"/>
            <a:ext cx="5920033" cy="614589"/>
          </a:xfrm>
        </p:spPr>
        <p:txBody>
          <a:bodyPr>
            <a:noAutofit/>
          </a:bodyPr>
          <a:lstStyle/>
          <a:p>
            <a:pPr algn="ctr"/>
            <a:r>
              <a:rPr lang="en-US" sz="4000" b="1" dirty="0">
                <a:latin typeface="Times New Roman" pitchFamily="18" charset="0"/>
                <a:cs typeface="Times New Roman" pitchFamily="18" charset="0"/>
              </a:rPr>
              <a:t>Popular Chimney Sizes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DE21B98C-36DD-1030-763D-766FCDBA9E17}"/>
              </a:ext>
            </a:extLst>
          </p:cNvPr>
          <p:cNvSpPr txBox="1"/>
          <p:nvPr/>
        </p:nvSpPr>
        <p:spPr>
          <a:xfrm>
            <a:off x="667108" y="1474881"/>
            <a:ext cx="6393567"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60 cm models are the most common, dominating the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90 cm chimneys come next in popularity.</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Only a small number of products are available in other sizes (e.g., 75 cm, 108 cm).</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reflects a focus on typical Indian kitchen dimensions</a:t>
            </a:r>
            <a:r>
              <a:rPr lang="en-US" sz="2000" dirty="0"/>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The 60 cm size is the standard choice for most households, aligning well with average stove widths and kitchen layouts.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6708615" y="1187779"/>
            <a:ext cx="5002615" cy="4289195"/>
          </a:xfrm>
          <a:prstGeom prst="rect">
            <a:avLst/>
          </a:prstGeom>
          <a:noFill/>
          <a:ln w="9525">
            <a:noFill/>
            <a:miter lim="800000"/>
            <a:headEnd/>
            <a:tailEnd/>
          </a:ln>
          <a:effectLst/>
        </p:spPr>
      </p:pic>
    </p:spTree>
    <p:extLst>
      <p:ext uri="{BB962C8B-B14F-4D97-AF65-F5344CB8AC3E}">
        <p14:creationId xmlns:p14="http://schemas.microsoft.com/office/powerpoint/2010/main" xmlns="" val="321750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655667-5F7A-A4C2-EFC8-E3586195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BD4E140-5F98-DE88-FD81-3C52AFAACE49}"/>
              </a:ext>
            </a:extLst>
          </p:cNvPr>
          <p:cNvSpPr>
            <a:spLocks noGrp="1"/>
          </p:cNvSpPr>
          <p:nvPr>
            <p:ph type="title"/>
          </p:nvPr>
        </p:nvSpPr>
        <p:spPr>
          <a:xfrm>
            <a:off x="-169683" y="392475"/>
            <a:ext cx="5402943" cy="614589"/>
          </a:xfrm>
        </p:spPr>
        <p:txBody>
          <a:bodyPr>
            <a:noAutofit/>
          </a:bodyPr>
          <a:lstStyle/>
          <a:p>
            <a:pPr algn="ctr"/>
            <a:r>
              <a:rPr lang="en-US" sz="4000" b="1" dirty="0">
                <a:latin typeface="Times New Roman" pitchFamily="18" charset="0"/>
                <a:cs typeface="Times New Roman" pitchFamily="18" charset="0"/>
              </a:rPr>
              <a:t>Price VS Rating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843DA78F-BD5C-9EC8-C098-C05D7761A9C3}"/>
              </a:ext>
            </a:extLst>
          </p:cNvPr>
          <p:cNvSpPr txBox="1"/>
          <p:nvPr/>
        </p:nvSpPr>
        <p:spPr>
          <a:xfrm>
            <a:off x="883925" y="1182647"/>
            <a:ext cx="6600958"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There is no clear correlation between product price and customer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Ratings generally remain within the 3.8 to 4.5 range, regardless of price.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customers prioritize quality and performance over cost.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Higher-priced products do not necessarily receive better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Price does not guarantee satisfaction — customers often favor reliable mid-range products that deliver good performance for the value.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7513163" y="1055802"/>
            <a:ext cx="4477028" cy="4590853"/>
          </a:xfrm>
          <a:prstGeom prst="rect">
            <a:avLst/>
          </a:prstGeom>
          <a:noFill/>
          <a:ln w="9525">
            <a:noFill/>
            <a:miter lim="800000"/>
            <a:headEnd/>
            <a:tailEnd/>
          </a:ln>
          <a:effectLst/>
        </p:spPr>
      </p:pic>
    </p:spTree>
    <p:extLst>
      <p:ext uri="{BB962C8B-B14F-4D97-AF65-F5344CB8AC3E}">
        <p14:creationId xmlns:p14="http://schemas.microsoft.com/office/powerpoint/2010/main" xmlns="" val="177518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0B6375-873F-A5A0-AEE6-0EE96A9B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AA96D57-B54C-227A-553D-FBD81EC08A9D}"/>
              </a:ext>
            </a:extLst>
          </p:cNvPr>
          <p:cNvSpPr>
            <a:spLocks noGrp="1"/>
          </p:cNvSpPr>
          <p:nvPr>
            <p:ph type="title"/>
          </p:nvPr>
        </p:nvSpPr>
        <p:spPr>
          <a:xfrm>
            <a:off x="0" y="609292"/>
            <a:ext cx="11726944" cy="614589"/>
          </a:xfrm>
        </p:spPr>
        <p:txBody>
          <a:bodyPr>
            <a:noAutofit/>
          </a:bodyPr>
          <a:lstStyle/>
          <a:p>
            <a:pPr algn="ctr"/>
            <a:r>
              <a:rPr lang="en-US" sz="4000" b="1" dirty="0">
                <a:latin typeface="Times New Roman" pitchFamily="18" charset="0"/>
                <a:cs typeface="Times New Roman" pitchFamily="18" charset="0"/>
              </a:rPr>
              <a:t>Brand Performance: Suction Capacity </a:t>
            </a:r>
            <a:r>
              <a:rPr lang="en-US" sz="4000" b="1" dirty="0" err="1">
                <a:latin typeface="Times New Roman" pitchFamily="18" charset="0"/>
                <a:cs typeface="Times New Roman" pitchFamily="18" charset="0"/>
              </a:rPr>
              <a:t>vs</a:t>
            </a:r>
            <a:r>
              <a:rPr lang="en-US" sz="4000" b="1" dirty="0">
                <a:latin typeface="Times New Roman" pitchFamily="18" charset="0"/>
                <a:cs typeface="Times New Roman" pitchFamily="18" charset="0"/>
              </a:rPr>
              <a:t> Rating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4FD69F69-AE06-2596-25E3-9599EFAFCE0B}"/>
              </a:ext>
            </a:extLst>
          </p:cNvPr>
          <p:cNvSpPr txBox="1"/>
          <p:nvPr/>
        </p:nvSpPr>
        <p:spPr>
          <a:xfrm>
            <a:off x="581384" y="1328456"/>
            <a:ext cx="6630122"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Ratings remain consistently high across different brands.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There is no strong link between suction power and customer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Some brands achieve high ratings even with mid-range suction levels.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that brand trust and reputation play a major role in customer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Customer satisfaction is driven more by brand credibility than by technical specifications alone.</a:t>
            </a:r>
          </a:p>
        </p:txBody>
      </p:sp>
      <p:pic>
        <p:nvPicPr>
          <p:cNvPr id="7171" name="Picture 3"/>
          <p:cNvPicPr>
            <a:picLocks noChangeAspect="1" noChangeArrowheads="1"/>
          </p:cNvPicPr>
          <p:nvPr/>
        </p:nvPicPr>
        <p:blipFill>
          <a:blip r:embed="rId2"/>
          <a:srcRect/>
          <a:stretch>
            <a:fillRect/>
          </a:stretch>
        </p:blipFill>
        <p:spPr bwMode="auto">
          <a:xfrm>
            <a:off x="6853287" y="1574277"/>
            <a:ext cx="5338713" cy="4100660"/>
          </a:xfrm>
          <a:prstGeom prst="rect">
            <a:avLst/>
          </a:prstGeom>
          <a:noFill/>
          <a:ln w="9525">
            <a:noFill/>
            <a:miter lim="800000"/>
            <a:headEnd/>
            <a:tailEnd/>
          </a:ln>
          <a:effectLst/>
        </p:spPr>
      </p:pic>
    </p:spTree>
    <p:extLst>
      <p:ext uri="{BB962C8B-B14F-4D97-AF65-F5344CB8AC3E}">
        <p14:creationId xmlns:p14="http://schemas.microsoft.com/office/powerpoint/2010/main" xmlns="" val="177320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F59818E-DAFD-9A23-AA9C-58C42077D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7B0C189-12E1-CAA7-F203-94A1E3CDCF9D}"/>
              </a:ext>
            </a:extLst>
          </p:cNvPr>
          <p:cNvSpPr>
            <a:spLocks noGrp="1"/>
          </p:cNvSpPr>
          <p:nvPr>
            <p:ph type="title"/>
          </p:nvPr>
        </p:nvSpPr>
        <p:spPr>
          <a:xfrm>
            <a:off x="0" y="354768"/>
            <a:ext cx="6768445" cy="614589"/>
          </a:xfrm>
        </p:spPr>
        <p:txBody>
          <a:bodyPr>
            <a:noAutofit/>
          </a:bodyPr>
          <a:lstStyle/>
          <a:p>
            <a:pPr algn="ctr"/>
            <a:r>
              <a:rPr lang="en-US" sz="4000" b="1" dirty="0">
                <a:latin typeface="Times New Roman" pitchFamily="18" charset="0"/>
                <a:cs typeface="Times New Roman" pitchFamily="18" charset="0"/>
              </a:rPr>
              <a:t>Offer Percentage VS Price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1228D7F5-86EB-026A-C8B3-D862C9E02CF8}"/>
              </a:ext>
            </a:extLst>
          </p:cNvPr>
          <p:cNvSpPr txBox="1"/>
          <p:nvPr/>
        </p:nvSpPr>
        <p:spPr>
          <a:xfrm>
            <a:off x="704816" y="1163796"/>
            <a:ext cx="6280446"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There is a slightly negative trend — higher-priced models tend to have smaller discounts.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Mid-range products (₹8K–₹15K) usually offer the highest discounts</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brands use strategic discounting to boost sales in the mid-range segment</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It helps attract a larger mass-market audience looking for value.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b="1" dirty="0"/>
              <a:t>:</a:t>
            </a:r>
            <a:r>
              <a:rPr lang="en-US" sz="2000" dirty="0"/>
              <a:t/>
            </a:r>
            <a:br>
              <a:rPr lang="en-US" sz="2000" dirty="0"/>
            </a:br>
            <a:r>
              <a:rPr lang="en-US" sz="2000" dirty="0">
                <a:latin typeface="Times New Roman" pitchFamily="18" charset="0"/>
                <a:cs typeface="Times New Roman" pitchFamily="18" charset="0"/>
              </a:rPr>
              <a:t>Discounts are maximized in the mid-price category to appeal to everyday buyers and increase sales volume.</a:t>
            </a:r>
          </a:p>
        </p:txBody>
      </p:sp>
      <p:pic>
        <p:nvPicPr>
          <p:cNvPr id="8194" name="Picture 2"/>
          <p:cNvPicPr>
            <a:picLocks noChangeAspect="1" noChangeArrowheads="1"/>
          </p:cNvPicPr>
          <p:nvPr/>
        </p:nvPicPr>
        <p:blipFill>
          <a:blip r:embed="rId2"/>
          <a:srcRect/>
          <a:stretch>
            <a:fillRect/>
          </a:stretch>
        </p:blipFill>
        <p:spPr bwMode="auto">
          <a:xfrm>
            <a:off x="6862713" y="1140643"/>
            <a:ext cx="4911365" cy="4835951"/>
          </a:xfrm>
          <a:prstGeom prst="rect">
            <a:avLst/>
          </a:prstGeom>
          <a:noFill/>
          <a:ln w="9525">
            <a:noFill/>
            <a:miter lim="800000"/>
            <a:headEnd/>
            <a:tailEnd/>
          </a:ln>
          <a:effectLst/>
        </p:spPr>
      </p:pic>
    </p:spTree>
    <p:extLst>
      <p:ext uri="{BB962C8B-B14F-4D97-AF65-F5344CB8AC3E}">
        <p14:creationId xmlns:p14="http://schemas.microsoft.com/office/powerpoint/2010/main" xmlns="" val="421841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B7BBF4-1CFA-CD8B-899F-E41585DD1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40BB468-2A6E-A565-4345-2C57412BA21E}"/>
              </a:ext>
            </a:extLst>
          </p:cNvPr>
          <p:cNvSpPr>
            <a:spLocks noGrp="1"/>
          </p:cNvSpPr>
          <p:nvPr>
            <p:ph type="title"/>
          </p:nvPr>
        </p:nvSpPr>
        <p:spPr>
          <a:xfrm>
            <a:off x="0" y="373927"/>
            <a:ext cx="11585542" cy="614589"/>
          </a:xfrm>
        </p:spPr>
        <p:txBody>
          <a:bodyPr>
            <a:noAutofit/>
          </a:bodyPr>
          <a:lstStyle/>
          <a:p>
            <a:pPr algn="ctr"/>
            <a:r>
              <a:rPr lang="en-US" sz="4000" b="1" dirty="0">
                <a:latin typeface="Times New Roman" pitchFamily="18" charset="0"/>
                <a:cs typeface="Times New Roman" pitchFamily="18" charset="0"/>
              </a:rPr>
              <a:t>3D Analysis: Price, Rating &amp; Suction Capacity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EEAE2E40-2FB2-04D8-FD57-E214BC76FFF0}"/>
              </a:ext>
            </a:extLst>
          </p:cNvPr>
          <p:cNvSpPr txBox="1"/>
          <p:nvPr/>
        </p:nvSpPr>
        <p:spPr>
          <a:xfrm>
            <a:off x="667109" y="1566746"/>
            <a:ext cx="5428891"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Best-rated chimneys cluster between ₹10K–₹15K and 1200–1500 CMH.</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High-end models don’t always have better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Optimal range: mid-price + high suction = best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Chimneys offering 1200–1500 CMH suction at a mid-range price give the best customer ratings.</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6680138" y="1745742"/>
            <a:ext cx="5276192" cy="3796829"/>
          </a:xfrm>
          <a:prstGeom prst="rect">
            <a:avLst/>
          </a:prstGeom>
          <a:noFill/>
          <a:ln w="9525">
            <a:noFill/>
            <a:miter lim="800000"/>
            <a:headEnd/>
            <a:tailEnd/>
          </a:ln>
          <a:effectLst/>
        </p:spPr>
      </p:pic>
    </p:spTree>
    <p:extLst>
      <p:ext uri="{BB962C8B-B14F-4D97-AF65-F5344CB8AC3E}">
        <p14:creationId xmlns:p14="http://schemas.microsoft.com/office/powerpoint/2010/main" xmlns="" val="309788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39B56F-CE91-689B-D969-3B9BEF87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2D41CBF-5171-F58F-E6DC-193491D4D0C2}"/>
              </a:ext>
            </a:extLst>
          </p:cNvPr>
          <p:cNvSpPr>
            <a:spLocks noGrp="1"/>
          </p:cNvSpPr>
          <p:nvPr>
            <p:ph type="title"/>
          </p:nvPr>
        </p:nvSpPr>
        <p:spPr>
          <a:xfrm>
            <a:off x="0" y="622168"/>
            <a:ext cx="12192000" cy="659877"/>
          </a:xfrm>
        </p:spPr>
        <p:txBody>
          <a:bodyPr>
            <a:noAutofit/>
          </a:bodyPr>
          <a:lstStyle/>
          <a:p>
            <a:pPr algn="ctr"/>
            <a:r>
              <a:rPr lang="en-US" sz="4000" b="1" dirty="0">
                <a:latin typeface="Times New Roman" pitchFamily="18" charset="0"/>
                <a:cs typeface="Times New Roman" pitchFamily="18" charset="0"/>
              </a:rPr>
              <a:t>Average </a:t>
            </a:r>
            <a:r>
              <a:rPr lang="en-US" sz="3600" b="1" dirty="0">
                <a:latin typeface="Times New Roman" pitchFamily="18" charset="0"/>
                <a:cs typeface="Times New Roman" pitchFamily="18" charset="0"/>
              </a:rPr>
              <a:t>Price</a:t>
            </a:r>
            <a:r>
              <a:rPr lang="en-US" sz="4000" b="1" dirty="0">
                <a:latin typeface="Times New Roman" pitchFamily="18" charset="0"/>
                <a:cs typeface="Times New Roman" pitchFamily="18" charset="0"/>
              </a:rPr>
              <a:t> Across Rating Categories &amp; Suction Bins</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BE87AF65-3901-0BB9-4EB3-70E37ADAA8A0}"/>
              </a:ext>
            </a:extLst>
          </p:cNvPr>
          <p:cNvSpPr txBox="1"/>
          <p:nvPr/>
        </p:nvSpPr>
        <p:spPr>
          <a:xfrm>
            <a:off x="982759" y="1633557"/>
            <a:ext cx="6084085" cy="409342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Chimneys in higher suction ranges cost more.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“Good” and “Excellent” rated chimneys mostly in 1000–2000 CMH.</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Lower suction models correspond with lower prices and ratings</a:t>
            </a:r>
            <a:r>
              <a:rPr lang="en-US" sz="2000" dirty="0"/>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Higher suction capacity correlates with premium pricing and better customer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7066844" y="1141350"/>
            <a:ext cx="4989689" cy="4585635"/>
          </a:xfrm>
          <a:prstGeom prst="rect">
            <a:avLst/>
          </a:prstGeom>
        </p:spPr>
      </p:pic>
    </p:spTree>
    <p:extLst>
      <p:ext uri="{BB962C8B-B14F-4D97-AF65-F5344CB8AC3E}">
        <p14:creationId xmlns:p14="http://schemas.microsoft.com/office/powerpoint/2010/main" xmlns="" val="228251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FCA0CE-8274-A1F5-3A9F-98D9815227EB}"/>
              </a:ext>
            </a:extLst>
          </p:cNvPr>
          <p:cNvSpPr>
            <a:spLocks noGrp="1"/>
          </p:cNvSpPr>
          <p:nvPr>
            <p:ph type="ctrTitle"/>
          </p:nvPr>
        </p:nvSpPr>
        <p:spPr>
          <a:xfrm>
            <a:off x="-750725" y="204082"/>
            <a:ext cx="9498799" cy="894695"/>
          </a:xfrm>
        </p:spPr>
        <p:txBody>
          <a:bodyPr>
            <a:normAutofit/>
          </a:bodyPr>
          <a:lstStyle/>
          <a:p>
            <a:r>
              <a:rPr lang="en-US" sz="4000" b="1" dirty="0">
                <a:latin typeface="Times New Roman" pitchFamily="18" charset="0"/>
                <a:cs typeface="Times New Roman" pitchFamily="18" charset="0"/>
              </a:rPr>
              <a:t>Key Findings &amp; Business Insights</a:t>
            </a:r>
            <a:endParaRPr lang="en-IN" sz="4000" b="1"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xmlns="" id="{B3930632-BBBE-7E42-5C8B-2887796D6FC6}"/>
              </a:ext>
            </a:extLst>
          </p:cNvPr>
          <p:cNvSpPr>
            <a:spLocks noGrp="1"/>
          </p:cNvSpPr>
          <p:nvPr>
            <p:ph type="subTitle" idx="1"/>
          </p:nvPr>
        </p:nvSpPr>
        <p:spPr>
          <a:xfrm>
            <a:off x="774640" y="1273451"/>
            <a:ext cx="10754341" cy="5089642"/>
          </a:xfrm>
        </p:spPr>
        <p:txBody>
          <a:bodyPr>
            <a:normAutofit lnSpcReduction="10000"/>
          </a:bodyPr>
          <a:lstStyle/>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The chimney market is dominated by affordable, mid-range products.</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60 cm models are most popular; 90 cm for larger kitchens.</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Ratings (4★ </a:t>
            </a:r>
            <a:r>
              <a:rPr lang="en-US" sz="2000" dirty="0" err="1">
                <a:latin typeface="Times New Roman" pitchFamily="18" charset="0"/>
                <a:cs typeface="Times New Roman" pitchFamily="18" charset="0"/>
              </a:rPr>
              <a:t>avg</a:t>
            </a:r>
            <a:r>
              <a:rPr lang="en-US" sz="2000" dirty="0">
                <a:latin typeface="Times New Roman" pitchFamily="18" charset="0"/>
                <a:cs typeface="Times New Roman" pitchFamily="18" charset="0"/>
              </a:rPr>
              <a:t>) show high customer satisfaction overall.</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Discounts (50–70%) are a key marketing strategy.</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Suction capacity (1200–1500 CMH) gives the best value.</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Brand reputation outweighs technical specifications in customer ratings.</a:t>
            </a:r>
          </a:p>
          <a:p>
            <a:pPr algn="l">
              <a:lnSpc>
                <a:spcPct val="150000"/>
              </a:lnSpc>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Overall, the chimney market thrives on mid-range, high-value products where affordability, brand trust, and balanced performance drive customer satisfaction.</a:t>
            </a:r>
          </a:p>
        </p:txBody>
      </p:sp>
    </p:spTree>
    <p:extLst>
      <p:ext uri="{BB962C8B-B14F-4D97-AF65-F5344CB8AC3E}">
        <p14:creationId xmlns:p14="http://schemas.microsoft.com/office/powerpoint/2010/main" xmlns="" val="2209448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CB9DEF-89CA-A2D6-D3EC-477F8E778C84}"/>
              </a:ext>
            </a:extLst>
          </p:cNvPr>
          <p:cNvSpPr>
            <a:spLocks noGrp="1"/>
          </p:cNvSpPr>
          <p:nvPr>
            <p:ph type="title"/>
          </p:nvPr>
        </p:nvSpPr>
        <p:spPr>
          <a:xfrm>
            <a:off x="254000" y="193675"/>
            <a:ext cx="2794000" cy="90487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xmlns="" id="{B3B7422F-A42C-D0BC-BCC8-74FDAE65E36E}"/>
              </a:ext>
            </a:extLst>
          </p:cNvPr>
          <p:cNvSpPr>
            <a:spLocks noChangeArrowheads="1"/>
          </p:cNvSpPr>
          <p:nvPr/>
        </p:nvSpPr>
        <p:spPr bwMode="auto">
          <a:xfrm>
            <a:off x="545156" y="1098550"/>
            <a:ext cx="10816526" cy="55880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Insights on Market Trends</a:t>
            </a:r>
            <a:r>
              <a:rPr lang="en-US" sz="1600" b="1" dirty="0">
                <a:latin typeface="Times New Roman" panose="02020603050405020304" pitchFamily="18" charset="0"/>
                <a:cs typeface="Times New Roman" panose="02020603050405020304" pitchFamily="18" charset="0"/>
              </a:rPr>
              <a:t/>
            </a:r>
            <a:br>
              <a:rPr lang="en-US" sz="1600" b="1" dirty="0">
                <a:latin typeface="Times New Roman" panose="02020603050405020304" pitchFamily="18" charset="0"/>
                <a:cs typeface="Times New Roman" panose="02020603050405020304" pitchFamily="18" charset="0"/>
              </a:rPr>
            </a:br>
            <a:r>
              <a:rPr lang="en-GB" sz="1600" dirty="0">
                <a:latin typeface="Times New Roman" panose="02020603050405020304" pitchFamily="18" charset="0"/>
                <a:cs typeface="Times New Roman" panose="02020603050405020304" pitchFamily="18" charset="0"/>
              </a:rPr>
              <a:t>The analysis revealed that most chimneys listed on Flipkart are mid-range products priced between ₹7,000–₹15,000, indicating strong customer preference for affordable and value-based appliances.</a:t>
            </a:r>
          </a:p>
          <a:p>
            <a:endParaRPr lang="en-GB"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Customer Satisfaction and Ratings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Average customer ratings were around 4.0, showing overall positive satisfaction levels. Premium brands like </a:t>
            </a:r>
            <a:r>
              <a:rPr lang="en-GB" sz="1600" b="1" dirty="0" err="1">
                <a:latin typeface="Times New Roman" panose="02020603050405020304" pitchFamily="18" charset="0"/>
                <a:cs typeface="Times New Roman" panose="02020603050405020304" pitchFamily="18" charset="0"/>
              </a:rPr>
              <a:t>Elica</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Faber</a:t>
            </a:r>
            <a:r>
              <a:rPr lang="en-GB" sz="1600" dirty="0">
                <a:latin typeface="Times New Roman" panose="02020603050405020304" pitchFamily="18" charset="0"/>
                <a:cs typeface="Times New Roman" panose="02020603050405020304" pitchFamily="18" charset="0"/>
              </a:rPr>
              <a:t> maintained consistent ratings across different models</a:t>
            </a:r>
          </a:p>
          <a:p>
            <a:endParaRPr lang="en-GB"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3.</a:t>
            </a:r>
            <a:r>
              <a:rPr lang="en-IN" sz="1600" b="1" dirty="0">
                <a:latin typeface="Times New Roman" panose="02020603050405020304" pitchFamily="18" charset="0"/>
                <a:cs typeface="Times New Roman" panose="02020603050405020304" pitchFamily="18" charset="0"/>
              </a:rPr>
              <a:t> Brand and Product Insights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Brands such as </a:t>
            </a:r>
            <a:r>
              <a:rPr lang="en-GB" sz="1600" b="1" dirty="0">
                <a:latin typeface="Times New Roman" panose="02020603050405020304" pitchFamily="18" charset="0"/>
                <a:cs typeface="Times New Roman" panose="02020603050405020304" pitchFamily="18" charset="0"/>
              </a:rPr>
              <a:t>Faber</a:t>
            </a:r>
            <a:r>
              <a:rPr lang="en-GB" sz="1600" dirty="0">
                <a:latin typeface="Times New Roman" panose="02020603050405020304" pitchFamily="18" charset="0"/>
                <a:cs typeface="Times New Roman" panose="02020603050405020304" pitchFamily="18" charset="0"/>
              </a:rPr>
              <a:t>, </a:t>
            </a:r>
            <a:r>
              <a:rPr lang="en-GB" sz="1600" b="1" dirty="0" err="1">
                <a:latin typeface="Times New Roman" panose="02020603050405020304" pitchFamily="18" charset="0"/>
                <a:cs typeface="Times New Roman" panose="02020603050405020304" pitchFamily="18" charset="0"/>
              </a:rPr>
              <a:t>Hindware</a:t>
            </a:r>
            <a:r>
              <a:rPr lang="en-GB" sz="1600" dirty="0">
                <a:latin typeface="Times New Roman" panose="02020603050405020304" pitchFamily="18" charset="0"/>
                <a:cs typeface="Times New Roman" panose="02020603050405020304" pitchFamily="18" charset="0"/>
              </a:rPr>
              <a:t>, and </a:t>
            </a:r>
            <a:r>
              <a:rPr lang="en-GB" sz="1600" b="1" dirty="0" err="1">
                <a:latin typeface="Times New Roman" panose="02020603050405020304" pitchFamily="18" charset="0"/>
                <a:cs typeface="Times New Roman" panose="02020603050405020304" pitchFamily="18" charset="0"/>
              </a:rPr>
              <a:t>Amplesta</a:t>
            </a:r>
            <a:r>
              <a:rPr lang="en-GB" sz="1600" dirty="0">
                <a:latin typeface="Times New Roman" panose="02020603050405020304" pitchFamily="18" charset="0"/>
                <a:cs typeface="Times New Roman" panose="02020603050405020304" pitchFamily="18" charset="0"/>
              </a:rPr>
              <a:t> dominated the listings, while smaller brands like </a:t>
            </a:r>
            <a:r>
              <a:rPr lang="en-GB" sz="1600" b="1" dirty="0" err="1">
                <a:latin typeface="Times New Roman" panose="02020603050405020304" pitchFamily="18" charset="0"/>
                <a:cs typeface="Times New Roman" panose="02020603050405020304" pitchFamily="18" charset="0"/>
              </a:rPr>
              <a:t>Omniya</a:t>
            </a:r>
            <a:r>
              <a:rPr lang="en-GB" sz="1600" dirty="0">
                <a:latin typeface="Times New Roman" panose="02020603050405020304" pitchFamily="18" charset="0"/>
                <a:cs typeface="Times New Roman" panose="02020603050405020304" pitchFamily="18" charset="0"/>
              </a:rPr>
              <a:t> and    </a:t>
            </a:r>
            <a:r>
              <a:rPr lang="en-GB" sz="1600" b="1" dirty="0" err="1">
                <a:latin typeface="Times New Roman" panose="02020603050405020304" pitchFamily="18" charset="0"/>
                <a:cs typeface="Times New Roman" panose="02020603050405020304" pitchFamily="18" charset="0"/>
              </a:rPr>
              <a:t>Greenchef</a:t>
            </a:r>
            <a:r>
              <a:rPr lang="en-GB" sz="1600" dirty="0">
                <a:latin typeface="Times New Roman" panose="02020603050405020304" pitchFamily="18" charset="0"/>
                <a:cs typeface="Times New Roman" panose="02020603050405020304" pitchFamily="18" charset="0"/>
              </a:rPr>
              <a:t> received higher customer ratings, proving that quality isn’t limited to brand popularity.</a:t>
            </a:r>
          </a:p>
          <a:p>
            <a:endParaRPr lang="en-GB" sz="1600" b="1"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4.</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Key Patterns and Correlations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No strong correlation was found between price and rating, implying that expensive products don’t always guarantee better performance or satisfaction. Mid-range chimneys with 1200–1500 CMH suction capacity were found to be most preferred.</a:t>
            </a:r>
          </a:p>
          <a:p>
            <a:endParaRPr lang="en-GB"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a:t>
            </a:r>
            <a:r>
              <a:rPr lang="en-GB"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Overall Conclusion</a:t>
            </a:r>
            <a:endParaRPr lang="en-GB" sz="1600" b="1" dirty="0">
              <a:latin typeface="Times New Roman" panose="02020603050405020304" pitchFamily="18" charset="0"/>
              <a:cs typeface="Times New Roman" panose="02020603050405020304" pitchFamily="18" charset="0"/>
            </a:endParaRPr>
          </a:p>
          <a:p>
            <a:r>
              <a:rPr lang="en-GB" sz="1600" dirty="0">
                <a:latin typeface="Times New Roman" panose="02020603050405020304" pitchFamily="18" charset="0"/>
                <a:cs typeface="Times New Roman" panose="02020603050405020304" pitchFamily="18" charset="0"/>
              </a:rPr>
              <a:t>  Through effective web scraping and Exploratory Data Analysis, valuable business insights were derived that can help brands optimize pricing strategies, improve product quality, and enhance customer satisfaction in the online chimney market.</a:t>
            </a:r>
            <a:endParaRPr lang="en-US" sz="1600"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44687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AC5FDD-9E40-B93A-E557-1D0E9B6DA08A}"/>
              </a:ext>
            </a:extLst>
          </p:cNvPr>
          <p:cNvSpPr>
            <a:spLocks noGrp="1"/>
          </p:cNvSpPr>
          <p:nvPr>
            <p:ph type="title"/>
          </p:nvPr>
        </p:nvSpPr>
        <p:spPr>
          <a:xfrm>
            <a:off x="283660" y="247138"/>
            <a:ext cx="10515600" cy="1325563"/>
          </a:xfrm>
        </p:spPr>
        <p:txBody>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xmlns="" id="{385608D9-1735-0142-AAF8-1110DAFC9C6E}"/>
              </a:ext>
            </a:extLst>
          </p:cNvPr>
          <p:cNvSpPr>
            <a:spLocks noGrp="1" noChangeArrowheads="1"/>
          </p:cNvSpPr>
          <p:nvPr>
            <p:ph type="body" idx="1"/>
          </p:nvPr>
        </p:nvSpPr>
        <p:spPr bwMode="auto">
          <a:xfrm>
            <a:off x="880534" y="1212417"/>
            <a:ext cx="9478734" cy="51706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Learned how to </a:t>
            </a:r>
            <a:r>
              <a:rPr lang="en-GB" sz="2000" b="1" dirty="0">
                <a:latin typeface="Times New Roman" panose="02020603050405020304" pitchFamily="18" charset="0"/>
                <a:cs typeface="Times New Roman" panose="02020603050405020304" pitchFamily="18" charset="0"/>
              </a:rPr>
              <a:t>clean, </a:t>
            </a:r>
            <a:r>
              <a:rPr lang="en-GB" sz="2000" b="1" dirty="0" err="1">
                <a:latin typeface="Times New Roman" panose="02020603050405020304" pitchFamily="18" charset="0"/>
                <a:cs typeface="Times New Roman" panose="02020603050405020304" pitchFamily="18" charset="0"/>
              </a:rPr>
              <a:t>preprocess</a:t>
            </a:r>
            <a:r>
              <a:rPr lang="en-GB" sz="2000" b="1" dirty="0">
                <a:latin typeface="Times New Roman" panose="02020603050405020304" pitchFamily="18" charset="0"/>
                <a:cs typeface="Times New Roman" panose="02020603050405020304" pitchFamily="18" charset="0"/>
              </a:rPr>
              <a:t>, and structure unorganized web data</a:t>
            </a:r>
            <a:r>
              <a:rPr lang="en-GB" sz="2000" dirty="0">
                <a:latin typeface="Times New Roman" panose="02020603050405020304" pitchFamily="18" charset="0"/>
                <a:cs typeface="Times New Roman" panose="02020603050405020304" pitchFamily="18" charset="0"/>
              </a:rPr>
              <a:t> into a usable CSV format for analysis.</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Gained hands-on experience in </a:t>
            </a:r>
            <a:r>
              <a:rPr lang="en-GB" sz="2000" b="1" dirty="0">
                <a:latin typeface="Times New Roman" panose="02020603050405020304" pitchFamily="18" charset="0"/>
                <a:cs typeface="Times New Roman" panose="02020603050405020304" pitchFamily="18" charset="0"/>
              </a:rPr>
              <a:t>extracting real-world product data</a:t>
            </a:r>
            <a:r>
              <a:rPr lang="en-GB" sz="2000" dirty="0">
                <a:latin typeface="Times New Roman" panose="02020603050405020304" pitchFamily="18" charset="0"/>
                <a:cs typeface="Times New Roman" panose="02020603050405020304" pitchFamily="18" charset="0"/>
              </a:rPr>
              <a:t> from Flipkart using Python libraries such as </a:t>
            </a:r>
            <a:r>
              <a:rPr lang="en-GB" sz="2000" b="1" dirty="0" err="1">
                <a:latin typeface="Times New Roman" panose="02020603050405020304" pitchFamily="18" charset="0"/>
                <a:cs typeface="Times New Roman" panose="02020603050405020304" pitchFamily="18" charset="0"/>
              </a:rPr>
              <a:t>BeautifulSoup</a:t>
            </a:r>
            <a:r>
              <a:rPr lang="en-GB" sz="2000" dirty="0">
                <a:latin typeface="Times New Roman" panose="02020603050405020304" pitchFamily="18" charset="0"/>
                <a:cs typeface="Times New Roman" panose="02020603050405020304" pitchFamily="18" charset="0"/>
              </a:rPr>
              <a:t> and </a:t>
            </a:r>
            <a:r>
              <a:rPr lang="en-GB" sz="2000" b="1" dirty="0">
                <a:latin typeface="Times New Roman" panose="02020603050405020304" pitchFamily="18" charset="0"/>
                <a:cs typeface="Times New Roman" panose="02020603050405020304" pitchFamily="18" charset="0"/>
              </a:rPr>
              <a:t>Requests</a:t>
            </a:r>
            <a:r>
              <a:rPr lang="en-GB" sz="2000" dirty="0">
                <a:latin typeface="Times New Roman" panose="02020603050405020304" pitchFamily="18" charset="0"/>
                <a:cs typeface="Times New Roman" panose="02020603050405020304" pitchFamily="18" charset="0"/>
              </a:rPr>
              <a: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Enhanced understanding of </a:t>
            </a:r>
            <a:r>
              <a:rPr lang="en-GB" sz="2000" b="1" dirty="0">
                <a:latin typeface="Times New Roman" panose="02020603050405020304" pitchFamily="18" charset="0"/>
                <a:cs typeface="Times New Roman" panose="02020603050405020304" pitchFamily="18" charset="0"/>
              </a:rPr>
              <a:t>Exploratory Data Analysis (EDA)</a:t>
            </a:r>
            <a:r>
              <a:rPr lang="en-GB" sz="2000" dirty="0">
                <a:latin typeface="Times New Roman" panose="02020603050405020304" pitchFamily="18" charset="0"/>
                <a:cs typeface="Times New Roman" panose="02020603050405020304" pitchFamily="18" charset="0"/>
              </a:rPr>
              <a:t> by applying univariate, bivariate, and multivariate visualizations using </a:t>
            </a:r>
            <a:r>
              <a:rPr lang="en-GB" sz="2000" b="1" dirty="0">
                <a:latin typeface="Times New Roman" panose="02020603050405020304" pitchFamily="18" charset="0"/>
                <a:cs typeface="Times New Roman" panose="02020603050405020304" pitchFamily="18" charset="0"/>
              </a:rPr>
              <a:t>Pandas, </a:t>
            </a:r>
            <a:r>
              <a:rPr lang="en-GB" sz="2000" b="1" dirty="0" err="1">
                <a:latin typeface="Times New Roman" panose="02020603050405020304" pitchFamily="18" charset="0"/>
                <a:cs typeface="Times New Roman" panose="02020603050405020304" pitchFamily="18" charset="0"/>
              </a:rPr>
              <a:t>Matplotlib</a:t>
            </a:r>
            <a:r>
              <a:rPr lang="en-GB" sz="2000" b="1" dirty="0">
                <a:latin typeface="Times New Roman" panose="02020603050405020304" pitchFamily="18" charset="0"/>
                <a:cs typeface="Times New Roman" panose="02020603050405020304" pitchFamily="18" charset="0"/>
              </a:rPr>
              <a:t>, and </a:t>
            </a:r>
            <a:r>
              <a:rPr lang="en-GB" sz="2000" b="1" dirty="0" err="1">
                <a:latin typeface="Times New Roman" panose="02020603050405020304" pitchFamily="18" charset="0"/>
                <a:cs typeface="Times New Roman" panose="02020603050405020304" pitchFamily="18" charset="0"/>
              </a:rPr>
              <a:t>Seaborn</a:t>
            </a:r>
            <a:r>
              <a:rPr lang="en-GB" sz="2000" dirty="0">
                <a:latin typeface="Times New Roman" panose="02020603050405020304" pitchFamily="18" charset="0"/>
                <a:cs typeface="Times New Roman" panose="02020603050405020304" pitchFamily="18" charset="0"/>
              </a:rPr>
              <a: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Developed the ability to </a:t>
            </a:r>
            <a:r>
              <a:rPr lang="en-GB" sz="2000" b="1" dirty="0">
                <a:latin typeface="Times New Roman" panose="02020603050405020304" pitchFamily="18" charset="0"/>
                <a:cs typeface="Times New Roman" panose="02020603050405020304" pitchFamily="18" charset="0"/>
              </a:rPr>
              <a:t>interpret patterns and business insights</a:t>
            </a:r>
            <a:r>
              <a:rPr lang="en-GB" sz="2000" dirty="0">
                <a:latin typeface="Times New Roman" panose="02020603050405020304" pitchFamily="18" charset="0"/>
                <a:cs typeface="Times New Roman" panose="02020603050405020304" pitchFamily="18" charset="0"/>
              </a:rPr>
              <a:t>, such as identifying top-rated brands, pricing trends, and customer preferences.</a:t>
            </a:r>
          </a:p>
          <a:p>
            <a:pPr marL="34290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Strengthened technical and analytical skills by converting raw scraped data into meaningful, decision-supporting insights.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98044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0C4F17-B27D-5353-8B75-94E4DF00F875}"/>
              </a:ext>
            </a:extLst>
          </p:cNvPr>
          <p:cNvSpPr>
            <a:spLocks noGrp="1"/>
          </p:cNvSpPr>
          <p:nvPr>
            <p:ph type="title"/>
          </p:nvPr>
        </p:nvSpPr>
        <p:spPr>
          <a:xfrm>
            <a:off x="283661" y="406420"/>
            <a:ext cx="10515600" cy="1325563"/>
          </a:xfrm>
        </p:spPr>
        <p:txBody>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4" name="Rectangle 1">
            <a:extLst>
              <a:ext uri="{FF2B5EF4-FFF2-40B4-BE49-F238E27FC236}">
                <a16:creationId xmlns:a16="http://schemas.microsoft.com/office/drawing/2014/main" xmlns="" id="{7FA88F87-09D6-310A-575A-399768B2BD26}"/>
              </a:ext>
            </a:extLst>
          </p:cNvPr>
          <p:cNvSpPr>
            <a:spLocks noGrp="1" noChangeArrowheads="1"/>
          </p:cNvSpPr>
          <p:nvPr>
            <p:ph type="body" idx="1"/>
          </p:nvPr>
        </p:nvSpPr>
        <p:spPr bwMode="auto">
          <a:xfrm>
            <a:off x="829242" y="1731983"/>
            <a:ext cx="9424437" cy="42473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Encountered missing values and inconsistent data formats in fields like </a:t>
            </a:r>
            <a:r>
              <a:rPr lang="en-GB" sz="2000" i="1" dirty="0">
                <a:latin typeface="Times New Roman" panose="02020603050405020304" pitchFamily="18" charset="0"/>
                <a:cs typeface="Times New Roman" panose="02020603050405020304" pitchFamily="18" charset="0"/>
              </a:rPr>
              <a:t>ratings</a:t>
            </a:r>
            <a:r>
              <a:rPr lang="en-GB" sz="2000" dirty="0">
                <a:latin typeface="Times New Roman" panose="02020603050405020304" pitchFamily="18" charset="0"/>
                <a:cs typeface="Times New Roman" panose="02020603050405020304" pitchFamily="18" charset="0"/>
              </a:rPr>
              <a:t> and </a:t>
            </a:r>
            <a:r>
              <a:rPr lang="en-GB" sz="2000" i="1" dirty="0">
                <a:latin typeface="Times New Roman" panose="02020603050405020304" pitchFamily="18" charset="0"/>
                <a:cs typeface="Times New Roman" panose="02020603050405020304" pitchFamily="18" charset="0"/>
              </a:rPr>
              <a:t>review counts</a:t>
            </a:r>
            <a:r>
              <a:rPr lang="en-GB" sz="2000" dirty="0">
                <a:latin typeface="Times New Roman" panose="02020603050405020304" pitchFamily="18" charset="0"/>
                <a:cs typeface="Times New Roman" panose="02020603050405020304" pitchFamily="18" charset="0"/>
              </a:rPr>
              <a:t>, which needed cleaning and transformation.</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Managed duplicate product entries and incomplete details while merging multiple scraped pages into one dataset.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Ensured accuracy and consistency during data cleaning — reducing dataset shape from (456, 8) to (451, 10) after removing invalid or redundant entries.</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Overcame challenges in visualizing and interpreting trends, by applying different plots and statistical summaries to bring out clear, data-driven conclusions</a:t>
            </a:r>
          </a:p>
          <a:p>
            <a:pPr marL="342900" lvl="0" eaLnBrk="0" fontAlgn="base" hangingPunct="0">
              <a:lnSpc>
                <a:spcPct val="150000"/>
              </a:lnSpc>
              <a:spcBef>
                <a:spcPct val="0"/>
              </a:spcBef>
              <a:spcAft>
                <a:spcPct val="0"/>
              </a:spcAft>
              <a:buClrTx/>
              <a:buSzTx/>
              <a:buFont typeface="Arial" panose="020B0604020202020204" pitchFamily="34" charset="0"/>
              <a:buChar char="•"/>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709766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030013" y="81359"/>
            <a:ext cx="9837683" cy="5783414"/>
          </a:xfrm>
          <a:prstGeom prst="rect">
            <a:avLst/>
          </a:prstGeom>
        </p:spPr>
      </p:pic>
      <p:pic>
        <p:nvPicPr>
          <p:cNvPr id="3" name="Picture 2"/>
          <p:cNvPicPr>
            <a:picLocks noChangeAspect="1"/>
          </p:cNvPicPr>
          <p:nvPr/>
        </p:nvPicPr>
        <p:blipFill>
          <a:blip r:embed="rId4"/>
          <a:stretch>
            <a:fillRect/>
          </a:stretch>
        </p:blipFill>
        <p:spPr>
          <a:xfrm>
            <a:off x="4560906" y="4803729"/>
            <a:ext cx="3217333" cy="5430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1246</TotalTime>
  <Words>1484</Words>
  <Application>Microsoft Office PowerPoint</Application>
  <PresentationFormat>Custom</PresentationFormat>
  <Paragraphs>176</Paragraphs>
  <Slides>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Times New Roman</vt:lpstr>
      <vt:lpstr>Calibri</vt:lpstr>
      <vt:lpstr>Office Theme</vt:lpstr>
      <vt:lpstr>Slide 1</vt:lpstr>
      <vt:lpstr>About Us:</vt:lpstr>
      <vt:lpstr>Introduction:</vt:lpstr>
      <vt:lpstr>Business Problem:</vt:lpstr>
      <vt:lpstr>Objectives:</vt:lpstr>
      <vt:lpstr>Web Scraping:</vt:lpstr>
      <vt:lpstr>Tools Used:</vt:lpstr>
      <vt:lpstr>Data Cleaning Steps:</vt:lpstr>
      <vt:lpstr>Removing Outliers using Log Transformation</vt:lpstr>
      <vt:lpstr>Price Distribution of Chimneys:</vt:lpstr>
      <vt:lpstr>Customer Rating Distribution :</vt:lpstr>
      <vt:lpstr>Review Count Distribution :</vt:lpstr>
      <vt:lpstr>Discount Offers on Chimneys :</vt:lpstr>
      <vt:lpstr>Popular Chimney Sizes :</vt:lpstr>
      <vt:lpstr>Price VS Rating :</vt:lpstr>
      <vt:lpstr>Brand Performance: Suction Capacity vs Rating :</vt:lpstr>
      <vt:lpstr>Offer Percentage VS Price :</vt:lpstr>
      <vt:lpstr>3D Analysis: Price, Rating &amp; Suction Capacity :</vt:lpstr>
      <vt:lpstr>Average Price Across Rating Categories &amp; Suction Bins:</vt:lpstr>
      <vt:lpstr>Key Findings &amp; Business Insights</vt:lpstr>
      <vt:lpstr>Conclusion:</vt:lpstr>
      <vt:lpstr>Experience– Web Scraping &amp; Data Analysis:</vt:lpstr>
      <vt:lpstr>Challenges – Web Scraping &amp; Data Analysis:</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Asus</cp:lastModifiedBy>
  <cp:revision>80</cp:revision>
  <dcterms:created xsi:type="dcterms:W3CDTF">2021-02-16T05:19:01Z</dcterms:created>
  <dcterms:modified xsi:type="dcterms:W3CDTF">2025-12-09T10:54:11Z</dcterms:modified>
</cp:coreProperties>
</file>